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1.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2FA7"/>
        </a:solidFill>
      </p:bgPr>
    </p:bg>
    <p:spTree>
      <p:nvGrpSpPr>
        <p:cNvPr id="1" name=""/>
        <p:cNvGrpSpPr/>
        <p:nvPr/>
      </p:nvGrpSpPr>
      <p:grpSpPr>
        <a:xfrm>
          <a:off x="0" y="0"/>
          <a:ext cx="0" cy="0"/>
          <a:chOff x="0" y="0"/>
          <a:chExt cx="0" cy="0"/>
        </a:xfrm>
      </p:grpSpPr>
      <p:sp>
        <p:nvSpPr>
          <p:cNvPr id="2" name="Text 0"/>
          <p:cNvSpPr/>
          <p:nvPr/>
        </p:nvSpPr>
        <p:spPr>
          <a:xfrm>
            <a:off x="457200" y="182880"/>
            <a:ext cx="4937760" cy="182880"/>
          </a:xfrm>
          <a:prstGeom prst="rect">
            <a:avLst/>
          </a:prstGeom>
          <a:noFill/>
          <a:ln/>
        </p:spPr>
        <p:txBody>
          <a:bodyPr wrap="square" lIns="0" tIns="0" rIns="0" bIns="0" rtlCol="0" anchor="ctr"/>
          <a:lstStyle/>
          <a:p>
            <a:pPr indent="0" marL="0">
              <a:buNone/>
            </a:pPr>
            <a:r>
              <a:rPr lang="en-US" sz="900" dirty="0">
                <a:solidFill>
                  <a:srgbClr val="EAEAEA"/>
                </a:solidFill>
                <a:latin typeface="Aptos" pitchFamily="34" charset="0"/>
                <a:ea typeface="Aptos" pitchFamily="34" charset="-122"/>
                <a:cs typeface="Aptos" pitchFamily="34" charset="-120"/>
              </a:rPr>
              <a:t>毕业答辩 · 上海电力大学</a:t>
            </a:r>
            <a:endParaRPr lang="en-US" sz="900" dirty="0"/>
          </a:p>
        </p:txBody>
      </p:sp>
      <p:sp>
        <p:nvSpPr>
          <p:cNvPr id="3" name="Text 1"/>
          <p:cNvSpPr/>
          <p:nvPr/>
        </p:nvSpPr>
        <p:spPr>
          <a:xfrm>
            <a:off x="9875520" y="182880"/>
            <a:ext cx="1828800" cy="182880"/>
          </a:xfrm>
          <a:prstGeom prst="rect">
            <a:avLst/>
          </a:prstGeom>
          <a:noFill/>
          <a:ln/>
        </p:spPr>
        <p:txBody>
          <a:bodyPr wrap="square" lIns="0" tIns="0" rIns="0" bIns="0" rtlCol="0" anchor="ctr"/>
          <a:lstStyle/>
          <a:p>
            <a:pPr algn="r" indent="0" marL="0">
              <a:buNone/>
            </a:pPr>
            <a:r>
              <a:rPr lang="en-US" sz="900" dirty="0">
                <a:solidFill>
                  <a:srgbClr val="EAEAEA"/>
                </a:solidFill>
                <a:latin typeface="Aptos" pitchFamily="34" charset="0"/>
                <a:ea typeface="Aptos" pitchFamily="34" charset="-122"/>
                <a:cs typeface="Aptos" pitchFamily="34" charset="-120"/>
              </a:rPr>
              <a:t>01 / 10</a:t>
            </a:r>
            <a:endParaRPr lang="en-US" sz="900" dirty="0"/>
          </a:p>
        </p:txBody>
      </p:sp>
      <p:sp>
        <p:nvSpPr>
          <p:cNvPr id="4" name="Text 2"/>
          <p:cNvSpPr/>
          <p:nvPr/>
        </p:nvSpPr>
        <p:spPr>
          <a:xfrm>
            <a:off x="640080" y="685800"/>
            <a:ext cx="5943600" cy="201168"/>
          </a:xfrm>
          <a:prstGeom prst="rect">
            <a:avLst/>
          </a:prstGeom>
          <a:noFill/>
          <a:ln/>
        </p:spPr>
        <p:txBody>
          <a:bodyPr wrap="square" lIns="0" tIns="0" rIns="0" bIns="0" rtlCol="0" anchor="ctr"/>
          <a:lstStyle/>
          <a:p>
            <a:pPr indent="0" marL="0">
              <a:buNone/>
            </a:pPr>
            <a:r>
              <a:rPr lang="en-US" sz="1000" dirty="0">
                <a:solidFill>
                  <a:srgbClr val="EDEDED"/>
                </a:solidFill>
                <a:latin typeface="Aptos" pitchFamily="34" charset="0"/>
                <a:ea typeface="Aptos" pitchFamily="34" charset="-122"/>
                <a:cs typeface="Aptos" pitchFamily="34" charset="-120"/>
              </a:rPr>
              <a:t>AI POWER IMAGE GENERATION · QUALITY EVALUATION</a:t>
            </a:r>
            <a:endParaRPr lang="en-US" sz="1000" dirty="0"/>
          </a:p>
        </p:txBody>
      </p:sp>
      <p:sp>
        <p:nvSpPr>
          <p:cNvPr id="5" name="Text 3"/>
          <p:cNvSpPr/>
          <p:nvPr/>
        </p:nvSpPr>
        <p:spPr>
          <a:xfrm>
            <a:off x="640080" y="1097280"/>
            <a:ext cx="6492240" cy="1325880"/>
          </a:xfrm>
          <a:prstGeom prst="rect">
            <a:avLst/>
          </a:prstGeom>
          <a:noFill/>
          <a:ln/>
        </p:spPr>
        <p:txBody>
          <a:bodyPr wrap="square" lIns="0" tIns="0" rIns="0" bIns="0" rtlCol="0" anchor="ctr"/>
          <a:lstStyle/>
          <a:p>
            <a:pPr indent="0" marL="0">
              <a:buNone/>
            </a:pPr>
            <a:r>
              <a:rPr lang="en-US" sz="2400" dirty="0">
                <a:solidFill>
                  <a:srgbClr val="FFFFFF"/>
                </a:solidFill>
                <a:latin typeface="Microsoft YaHei" pitchFamily="34" charset="0"/>
                <a:ea typeface="Microsoft YaHei" pitchFamily="34" charset="-122"/>
                <a:cs typeface="Microsoft YaHei" pitchFamily="34" charset="-120"/>
              </a:rPr>
              <a:t>基于AI生成电力图像</a:t>
            </a:r>
            <a:endParaRPr lang="en-US" sz="2400" dirty="0"/>
          </a:p>
          <a:p>
            <a:pPr indent="0" marL="0">
              <a:buNone/>
            </a:pPr>
            <a:r>
              <a:rPr lang="en-US" sz="2400" dirty="0">
                <a:solidFill>
                  <a:srgbClr val="FFFFFF"/>
                </a:solidFill>
                <a:latin typeface="Microsoft YaHei" pitchFamily="34" charset="0"/>
                <a:ea typeface="Microsoft YaHei" pitchFamily="34" charset="-122"/>
                <a:cs typeface="Microsoft YaHei" pitchFamily="34" charset="-120"/>
              </a:rPr>
              <a:t>及多维度质量评价</a:t>
            </a:r>
            <a:endParaRPr lang="en-US" sz="2400" dirty="0"/>
          </a:p>
        </p:txBody>
      </p:sp>
      <p:sp>
        <p:nvSpPr>
          <p:cNvPr id="6" name="Text 4"/>
          <p:cNvSpPr/>
          <p:nvPr/>
        </p:nvSpPr>
        <p:spPr>
          <a:xfrm>
            <a:off x="640080" y="2606040"/>
            <a:ext cx="6217920" cy="548640"/>
          </a:xfrm>
          <a:prstGeom prst="rect">
            <a:avLst/>
          </a:prstGeom>
          <a:noFill/>
          <a:ln/>
        </p:spPr>
        <p:txBody>
          <a:bodyPr wrap="square" lIns="0" tIns="0" rIns="0" bIns="0" rtlCol="0" anchor="ctr"/>
          <a:lstStyle/>
          <a:p>
            <a:pPr indent="0" marL="0">
              <a:buNone/>
            </a:pPr>
            <a:r>
              <a:rPr lang="en-US" sz="1100" dirty="0">
                <a:solidFill>
                  <a:srgbClr val="F2F2F2"/>
                </a:solidFill>
                <a:latin typeface="Microsoft YaHei" pitchFamily="34" charset="0"/>
                <a:ea typeface="Microsoft YaHei" pitchFamily="34" charset="-122"/>
                <a:cs typeface="Microsoft YaHei" pitchFamily="34" charset="-120"/>
              </a:rPr>
              <a:t>围绕电力场景图像生成、质量评分与平台闭环验证，构建“可生成、可评价、可追踪”的工程化系统。</a:t>
            </a:r>
            <a:endParaRPr lang="en-US" sz="1100" dirty="0"/>
          </a:p>
        </p:txBody>
      </p:sp>
      <p:pic>
        <p:nvPicPr>
          <p:cNvPr id="7" name="Image 0" descr="/Users/hrzt/code/vibe coding/codex/毕业设计/electric-ai-platform/ppt/images/01-school-logo.png">    </p:cNvPr>
          <p:cNvPicPr>
            <a:picLocks noChangeAspect="1"/>
          </p:cNvPicPr>
          <p:nvPr/>
        </p:nvPicPr>
        <p:blipFill>
          <a:blip r:embed="rId1"/>
          <a:srcRect l="0" r="0" t="0" b="0"/>
          <a:stretch/>
        </p:blipFill>
        <p:spPr>
          <a:xfrm>
            <a:off x="8412480" y="1325880"/>
            <a:ext cx="2468880" cy="2011680"/>
          </a:xfrm>
          <a:prstGeom prst="rect">
            <a:avLst/>
          </a:prstGeom>
        </p:spPr>
      </p:pic>
      <p:sp>
        <p:nvSpPr>
          <p:cNvPr id="8" name="Text 5"/>
          <p:cNvSpPr/>
          <p:nvPr/>
        </p:nvSpPr>
        <p:spPr>
          <a:xfrm>
            <a:off x="640080" y="5394960"/>
            <a:ext cx="4846320" cy="731520"/>
          </a:xfrm>
          <a:prstGeom prst="rect">
            <a:avLst/>
          </a:prstGeom>
          <a:noFill/>
          <a:ln/>
        </p:spPr>
        <p:txBody>
          <a:bodyPr wrap="square" lIns="0" tIns="0" rIns="0" bIns="0" rtlCol="0" anchor="ctr"/>
          <a:lstStyle/>
          <a:p>
            <a:pPr indent="0" marL="0">
              <a:buNone/>
            </a:pPr>
            <a:r>
              <a:rPr lang="en-US" sz="1100" dirty="0">
                <a:solidFill>
                  <a:srgbClr val="FFFFFF"/>
                </a:solidFill>
                <a:latin typeface="Microsoft YaHei" pitchFamily="34" charset="0"/>
                <a:ea typeface="Microsoft YaHei" pitchFamily="34" charset="-122"/>
                <a:cs typeface="Microsoft YaHei" pitchFamily="34" charset="-120"/>
              </a:rPr>
              <a:t>学生：茹文栚    学号：20221533</a:t>
            </a:r>
            <a:endParaRPr lang="en-US" sz="1100" dirty="0"/>
          </a:p>
          <a:p>
            <a:pPr indent="0" marL="0">
              <a:buNone/>
            </a:pPr>
            <a:r>
              <a:rPr lang="en-US" sz="1100" dirty="0">
                <a:solidFill>
                  <a:srgbClr val="FFFFFF"/>
                </a:solidFill>
                <a:latin typeface="Microsoft YaHei" pitchFamily="34" charset="0"/>
                <a:ea typeface="Microsoft YaHei" pitchFamily="34" charset="-122"/>
                <a:cs typeface="Microsoft YaHei" pitchFamily="34" charset="-120"/>
              </a:rPr>
              <a:t>学院：人工智能学部    专业：计算机科学与技术</a:t>
            </a:r>
            <a:endParaRPr lang="en-US" sz="1100" dirty="0"/>
          </a:p>
          <a:p>
            <a:pPr indent="0" marL="0">
              <a:buNone/>
            </a:pPr>
            <a:r>
              <a:rPr lang="en-US" sz="1100" dirty="0">
                <a:solidFill>
                  <a:srgbClr val="FFFFFF"/>
                </a:solidFill>
                <a:latin typeface="Microsoft YaHei" pitchFamily="34" charset="0"/>
                <a:ea typeface="Microsoft YaHei" pitchFamily="34" charset="-122"/>
                <a:cs typeface="Microsoft YaHei" pitchFamily="34" charset="-120"/>
              </a:rPr>
              <a:t>指导教师：卢芳芳</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F"/>
        </a:solidFill>
      </p:bgPr>
    </p:bg>
    <p:spTree>
      <p:nvGrpSpPr>
        <p:cNvPr id="1" name=""/>
        <p:cNvGrpSpPr/>
        <p:nvPr/>
      </p:nvGrpSpPr>
      <p:grpSpPr>
        <a:xfrm>
          <a:off x="0" y="0"/>
          <a:ext cx="0" cy="0"/>
          <a:chOff x="0" y="0"/>
          <a:chExt cx="0" cy="0"/>
        </a:xfrm>
      </p:grpSpPr>
      <p:sp>
        <p:nvSpPr>
          <p:cNvPr id="2" name="Text 0"/>
          <p:cNvSpPr/>
          <p:nvPr/>
        </p:nvSpPr>
        <p:spPr>
          <a:xfrm>
            <a:off x="457200" y="182880"/>
            <a:ext cx="4937760" cy="182880"/>
          </a:xfrm>
          <a:prstGeom prst="rect">
            <a:avLst/>
          </a:prstGeom>
          <a:noFill/>
          <a:ln/>
        </p:spPr>
        <p:txBody>
          <a:bodyPr wrap="square" lIns="0" tIns="0" rIns="0" bIns="0" rtlCol="0" anchor="ctr"/>
          <a:lstStyle/>
          <a:p>
            <a:pPr indent="0" marL="0">
              <a:buNone/>
            </a:pPr>
            <a:r>
              <a:rPr lang="en-US" sz="900" dirty="0">
                <a:solidFill>
                  <a:srgbClr val="666666"/>
                </a:solidFill>
                <a:latin typeface="Aptos" pitchFamily="34" charset="0"/>
                <a:ea typeface="Aptos" pitchFamily="34" charset="-122"/>
                <a:cs typeface="Aptos" pitchFamily="34" charset="-120"/>
              </a:rPr>
              <a:t>CONTENTS</a:t>
            </a:r>
            <a:endParaRPr lang="en-US" sz="900" dirty="0"/>
          </a:p>
        </p:txBody>
      </p:sp>
      <p:sp>
        <p:nvSpPr>
          <p:cNvPr id="3" name="Text 1"/>
          <p:cNvSpPr/>
          <p:nvPr/>
        </p:nvSpPr>
        <p:spPr>
          <a:xfrm>
            <a:off x="9875520" y="182880"/>
            <a:ext cx="1828800" cy="182880"/>
          </a:xfrm>
          <a:prstGeom prst="rect">
            <a:avLst/>
          </a:prstGeom>
          <a:noFill/>
          <a:ln/>
        </p:spPr>
        <p:txBody>
          <a:bodyPr wrap="square" lIns="0" tIns="0" rIns="0" bIns="0" rtlCol="0" anchor="ctr"/>
          <a:lstStyle/>
          <a:p>
            <a:pPr algn="r" indent="0" marL="0">
              <a:buNone/>
            </a:pPr>
            <a:r>
              <a:rPr lang="en-US" sz="900" dirty="0">
                <a:solidFill>
                  <a:srgbClr val="666666"/>
                </a:solidFill>
                <a:latin typeface="Aptos" pitchFamily="34" charset="0"/>
                <a:ea typeface="Aptos" pitchFamily="34" charset="-122"/>
                <a:cs typeface="Aptos" pitchFamily="34" charset="-120"/>
              </a:rPr>
              <a:t>02 / 10</a:t>
            </a:r>
            <a:endParaRPr lang="en-US" sz="900" dirty="0"/>
          </a:p>
        </p:txBody>
      </p:sp>
      <p:sp>
        <p:nvSpPr>
          <p:cNvPr id="4" name="Text 2"/>
          <p:cNvSpPr/>
          <p:nvPr/>
        </p:nvSpPr>
        <p:spPr>
          <a:xfrm>
            <a:off x="777240" y="822960"/>
            <a:ext cx="1828800" cy="640080"/>
          </a:xfrm>
          <a:prstGeom prst="rect">
            <a:avLst/>
          </a:prstGeom>
          <a:noFill/>
          <a:ln/>
        </p:spPr>
        <p:txBody>
          <a:bodyPr wrap="square" lIns="0" tIns="0" rIns="0" bIns="0" rtlCol="0" anchor="ctr"/>
          <a:lstStyle/>
          <a:p>
            <a:pPr indent="0" marL="0">
              <a:buNone/>
            </a:pPr>
            <a:r>
              <a:rPr lang="en-US" sz="3000" b="1" dirty="0">
                <a:solidFill>
                  <a:srgbClr val="002FA7"/>
                </a:solidFill>
                <a:latin typeface="Microsoft YaHei" pitchFamily="34" charset="0"/>
                <a:ea typeface="Microsoft YaHei" pitchFamily="34" charset="-122"/>
                <a:cs typeface="Microsoft YaHei" pitchFamily="34" charset="-120"/>
              </a:rPr>
              <a:t>目 录</a:t>
            </a:r>
            <a:endParaRPr lang="en-US" sz="3000" dirty="0"/>
          </a:p>
        </p:txBody>
      </p:sp>
      <p:sp>
        <p:nvSpPr>
          <p:cNvPr id="5" name="Text 3"/>
          <p:cNvSpPr/>
          <p:nvPr/>
        </p:nvSpPr>
        <p:spPr>
          <a:xfrm>
            <a:off x="822960" y="1572768"/>
            <a:ext cx="2194560" cy="237744"/>
          </a:xfrm>
          <a:prstGeom prst="rect">
            <a:avLst/>
          </a:prstGeom>
          <a:noFill/>
          <a:ln/>
        </p:spPr>
        <p:txBody>
          <a:bodyPr wrap="square" lIns="0" tIns="0" rIns="0" bIns="0" rtlCol="0" anchor="ctr"/>
          <a:lstStyle/>
          <a:p>
            <a:pPr indent="0" marL="0">
              <a:buNone/>
            </a:pPr>
            <a:r>
              <a:rPr lang="en-US" sz="1300" dirty="0">
                <a:solidFill>
                  <a:srgbClr val="4EA1D9"/>
                </a:solidFill>
                <a:latin typeface="Aptos" pitchFamily="34" charset="0"/>
                <a:ea typeface="Aptos" pitchFamily="34" charset="-122"/>
                <a:cs typeface="Aptos" pitchFamily="34" charset="-120"/>
              </a:rPr>
              <a:t>CONTENTS</a:t>
            </a:r>
            <a:endParaRPr lang="en-US" sz="1300" dirty="0"/>
          </a:p>
        </p:txBody>
      </p:sp>
      <p:sp>
        <p:nvSpPr>
          <p:cNvPr id="6" name="Shape 4"/>
          <p:cNvSpPr/>
          <p:nvPr/>
        </p:nvSpPr>
        <p:spPr>
          <a:xfrm>
            <a:off x="822960" y="1892808"/>
            <a:ext cx="2331720" cy="0"/>
          </a:xfrm>
          <a:prstGeom prst="line">
            <a:avLst/>
          </a:prstGeom>
          <a:noFill/>
          <a:ln w="12700">
            <a:solidFill>
              <a:srgbClr val="4EA1D9"/>
            </a:solidFill>
            <a:prstDash val="solid"/>
            <a:headEnd type="none"/>
            <a:tailEnd type="triangle"/>
          </a:ln>
        </p:spPr>
      </p:sp>
      <p:sp>
        <p:nvSpPr>
          <p:cNvPr id="7" name="Shape 5"/>
          <p:cNvSpPr/>
          <p:nvPr/>
        </p:nvSpPr>
        <p:spPr>
          <a:xfrm>
            <a:off x="804672" y="2450592"/>
            <a:ext cx="566928" cy="347472"/>
          </a:xfrm>
          <a:prstGeom prst="roundRect">
            <a:avLst>
              <a:gd name="adj" fmla="val 13158"/>
            </a:avLst>
          </a:prstGeom>
          <a:solidFill>
            <a:srgbClr val="002FA7"/>
          </a:solidFill>
          <a:ln w="12700">
            <a:solidFill>
              <a:srgbClr val="002FA7"/>
            </a:solidFill>
            <a:prstDash val="solid"/>
          </a:ln>
        </p:spPr>
      </p:sp>
      <p:sp>
        <p:nvSpPr>
          <p:cNvPr id="8" name="Text 6"/>
          <p:cNvSpPr/>
          <p:nvPr/>
        </p:nvSpPr>
        <p:spPr>
          <a:xfrm>
            <a:off x="804672" y="2496312"/>
            <a:ext cx="566928" cy="146304"/>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01</a:t>
            </a:r>
            <a:endParaRPr lang="en-US" sz="1100" dirty="0"/>
          </a:p>
        </p:txBody>
      </p:sp>
      <p:sp>
        <p:nvSpPr>
          <p:cNvPr id="9" name="Text 7"/>
          <p:cNvSpPr/>
          <p:nvPr/>
        </p:nvSpPr>
        <p:spPr>
          <a:xfrm>
            <a:off x="1645920" y="2450592"/>
            <a:ext cx="3840480" cy="274320"/>
          </a:xfrm>
          <a:prstGeom prst="rect">
            <a:avLst/>
          </a:prstGeom>
          <a:noFill/>
          <a:ln/>
        </p:spPr>
        <p:txBody>
          <a:bodyPr wrap="square" lIns="0" tIns="0" rIns="0" bIns="0" rtlCol="0" anchor="ctr"/>
          <a:lstStyle/>
          <a:p>
            <a:pPr indent="0" marL="0">
              <a:buNone/>
            </a:pPr>
            <a:r>
              <a:rPr lang="en-US" sz="1900" b="1" dirty="0">
                <a:solidFill>
                  <a:srgbClr val="002FA7"/>
                </a:solidFill>
                <a:latin typeface="Microsoft YaHei" pitchFamily="34" charset="0"/>
                <a:ea typeface="Microsoft YaHei" pitchFamily="34" charset="-122"/>
                <a:cs typeface="Microsoft YaHei" pitchFamily="34" charset="-120"/>
              </a:rPr>
              <a:t>项目背景与研究意义</a:t>
            </a:r>
            <a:endParaRPr lang="en-US" sz="1900" dirty="0"/>
          </a:p>
        </p:txBody>
      </p:sp>
      <p:sp>
        <p:nvSpPr>
          <p:cNvPr id="10" name="Shape 8"/>
          <p:cNvSpPr/>
          <p:nvPr/>
        </p:nvSpPr>
        <p:spPr>
          <a:xfrm>
            <a:off x="1664208" y="2724912"/>
            <a:ext cx="4297680" cy="0"/>
          </a:xfrm>
          <a:prstGeom prst="line">
            <a:avLst/>
          </a:prstGeom>
          <a:noFill/>
          <a:ln w="12700">
            <a:solidFill>
              <a:srgbClr val="B8D7EF"/>
            </a:solidFill>
            <a:prstDash val="solid"/>
          </a:ln>
        </p:spPr>
      </p:sp>
      <p:sp>
        <p:nvSpPr>
          <p:cNvPr id="11" name="Text 9"/>
          <p:cNvSpPr/>
          <p:nvPr/>
        </p:nvSpPr>
        <p:spPr>
          <a:xfrm>
            <a:off x="5833872" y="2459736"/>
            <a:ext cx="137160" cy="182880"/>
          </a:xfrm>
          <a:prstGeom prst="rect">
            <a:avLst/>
          </a:prstGeom>
          <a:noFill/>
          <a:ln/>
        </p:spPr>
        <p:txBody>
          <a:bodyPr wrap="square" lIns="0" tIns="0" rIns="0" bIns="0" rtlCol="0" anchor="ctr"/>
          <a:lstStyle/>
          <a:p>
            <a:pPr indent="0" marL="0">
              <a:buNone/>
            </a:pPr>
            <a:r>
              <a:rPr lang="en-US" sz="1800" dirty="0">
                <a:solidFill>
                  <a:srgbClr val="4EA1D9"/>
                </a:solidFill>
                <a:latin typeface="Aptos" pitchFamily="34" charset="0"/>
                <a:ea typeface="Aptos" pitchFamily="34" charset="-122"/>
                <a:cs typeface="Aptos" pitchFamily="34" charset="-120"/>
              </a:rPr>
              <a:t>·</a:t>
            </a:r>
            <a:endParaRPr lang="en-US" sz="1800" dirty="0"/>
          </a:p>
        </p:txBody>
      </p:sp>
      <p:sp>
        <p:nvSpPr>
          <p:cNvPr id="12" name="Shape 10"/>
          <p:cNvSpPr/>
          <p:nvPr/>
        </p:nvSpPr>
        <p:spPr>
          <a:xfrm>
            <a:off x="804672" y="3227832"/>
            <a:ext cx="566928" cy="347472"/>
          </a:xfrm>
          <a:prstGeom prst="roundRect">
            <a:avLst>
              <a:gd name="adj" fmla="val 13158"/>
            </a:avLst>
          </a:prstGeom>
          <a:solidFill>
            <a:srgbClr val="002FA7"/>
          </a:solidFill>
          <a:ln w="12700">
            <a:solidFill>
              <a:srgbClr val="002FA7"/>
            </a:solidFill>
            <a:prstDash val="solid"/>
          </a:ln>
        </p:spPr>
      </p:sp>
      <p:sp>
        <p:nvSpPr>
          <p:cNvPr id="13" name="Text 11"/>
          <p:cNvSpPr/>
          <p:nvPr/>
        </p:nvSpPr>
        <p:spPr>
          <a:xfrm>
            <a:off x="804672" y="3273552"/>
            <a:ext cx="566928" cy="146304"/>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02</a:t>
            </a:r>
            <a:endParaRPr lang="en-US" sz="1100" dirty="0"/>
          </a:p>
        </p:txBody>
      </p:sp>
      <p:sp>
        <p:nvSpPr>
          <p:cNvPr id="14" name="Text 12"/>
          <p:cNvSpPr/>
          <p:nvPr/>
        </p:nvSpPr>
        <p:spPr>
          <a:xfrm>
            <a:off x="1645920" y="3227832"/>
            <a:ext cx="3840480" cy="274320"/>
          </a:xfrm>
          <a:prstGeom prst="rect">
            <a:avLst/>
          </a:prstGeom>
          <a:noFill/>
          <a:ln/>
        </p:spPr>
        <p:txBody>
          <a:bodyPr wrap="square" lIns="0" tIns="0" rIns="0" bIns="0" rtlCol="0" anchor="ctr"/>
          <a:lstStyle/>
          <a:p>
            <a:pPr indent="0" marL="0">
              <a:buNone/>
            </a:pPr>
            <a:r>
              <a:rPr lang="en-US" sz="1900" b="1" dirty="0">
                <a:solidFill>
                  <a:srgbClr val="002FA7"/>
                </a:solidFill>
                <a:latin typeface="Microsoft YaHei" pitchFamily="34" charset="0"/>
                <a:ea typeface="Microsoft YaHei" pitchFamily="34" charset="-122"/>
                <a:cs typeface="Microsoft YaHei" pitchFamily="34" charset="-120"/>
              </a:rPr>
              <a:t>系统总体设计</a:t>
            </a:r>
            <a:endParaRPr lang="en-US" sz="1900" dirty="0"/>
          </a:p>
        </p:txBody>
      </p:sp>
      <p:sp>
        <p:nvSpPr>
          <p:cNvPr id="15" name="Shape 13"/>
          <p:cNvSpPr/>
          <p:nvPr/>
        </p:nvSpPr>
        <p:spPr>
          <a:xfrm>
            <a:off x="1664208" y="3502152"/>
            <a:ext cx="4297680" cy="0"/>
          </a:xfrm>
          <a:prstGeom prst="line">
            <a:avLst/>
          </a:prstGeom>
          <a:noFill/>
          <a:ln w="12700">
            <a:solidFill>
              <a:srgbClr val="B8D7EF"/>
            </a:solidFill>
            <a:prstDash val="solid"/>
          </a:ln>
        </p:spPr>
      </p:sp>
      <p:sp>
        <p:nvSpPr>
          <p:cNvPr id="16" name="Text 14"/>
          <p:cNvSpPr/>
          <p:nvPr/>
        </p:nvSpPr>
        <p:spPr>
          <a:xfrm>
            <a:off x="5833872" y="3236976"/>
            <a:ext cx="137160" cy="182880"/>
          </a:xfrm>
          <a:prstGeom prst="rect">
            <a:avLst/>
          </a:prstGeom>
          <a:noFill/>
          <a:ln/>
        </p:spPr>
        <p:txBody>
          <a:bodyPr wrap="square" lIns="0" tIns="0" rIns="0" bIns="0" rtlCol="0" anchor="ctr"/>
          <a:lstStyle/>
          <a:p>
            <a:pPr indent="0" marL="0">
              <a:buNone/>
            </a:pPr>
            <a:r>
              <a:rPr lang="en-US" sz="1800" dirty="0">
                <a:solidFill>
                  <a:srgbClr val="4EA1D9"/>
                </a:solidFill>
                <a:latin typeface="Aptos" pitchFamily="34" charset="0"/>
                <a:ea typeface="Aptos" pitchFamily="34" charset="-122"/>
                <a:cs typeface="Aptos" pitchFamily="34" charset="-120"/>
              </a:rPr>
              <a:t>·</a:t>
            </a:r>
            <a:endParaRPr lang="en-US" sz="1800" dirty="0"/>
          </a:p>
        </p:txBody>
      </p:sp>
      <p:sp>
        <p:nvSpPr>
          <p:cNvPr id="17" name="Shape 15"/>
          <p:cNvSpPr/>
          <p:nvPr/>
        </p:nvSpPr>
        <p:spPr>
          <a:xfrm>
            <a:off x="804672" y="4005072"/>
            <a:ext cx="566928" cy="347472"/>
          </a:xfrm>
          <a:prstGeom prst="roundRect">
            <a:avLst>
              <a:gd name="adj" fmla="val 13158"/>
            </a:avLst>
          </a:prstGeom>
          <a:solidFill>
            <a:srgbClr val="002FA7"/>
          </a:solidFill>
          <a:ln w="12700">
            <a:solidFill>
              <a:srgbClr val="002FA7"/>
            </a:solidFill>
            <a:prstDash val="solid"/>
          </a:ln>
        </p:spPr>
      </p:sp>
      <p:sp>
        <p:nvSpPr>
          <p:cNvPr id="18" name="Text 16"/>
          <p:cNvSpPr/>
          <p:nvPr/>
        </p:nvSpPr>
        <p:spPr>
          <a:xfrm>
            <a:off x="804672" y="4050792"/>
            <a:ext cx="566928" cy="146304"/>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03</a:t>
            </a:r>
            <a:endParaRPr lang="en-US" sz="1100" dirty="0"/>
          </a:p>
        </p:txBody>
      </p:sp>
      <p:sp>
        <p:nvSpPr>
          <p:cNvPr id="19" name="Text 17"/>
          <p:cNvSpPr/>
          <p:nvPr/>
        </p:nvSpPr>
        <p:spPr>
          <a:xfrm>
            <a:off x="1645920" y="4005072"/>
            <a:ext cx="3840480" cy="274320"/>
          </a:xfrm>
          <a:prstGeom prst="rect">
            <a:avLst/>
          </a:prstGeom>
          <a:noFill/>
          <a:ln/>
        </p:spPr>
        <p:txBody>
          <a:bodyPr wrap="square" lIns="0" tIns="0" rIns="0" bIns="0" rtlCol="0" anchor="ctr"/>
          <a:lstStyle/>
          <a:p>
            <a:pPr indent="0" marL="0">
              <a:buNone/>
            </a:pPr>
            <a:r>
              <a:rPr lang="en-US" sz="1900" b="1" dirty="0">
                <a:solidFill>
                  <a:srgbClr val="002FA7"/>
                </a:solidFill>
                <a:latin typeface="Microsoft YaHei" pitchFamily="34" charset="0"/>
                <a:ea typeface="Microsoft YaHei" pitchFamily="34" charset="-122"/>
                <a:cs typeface="Microsoft YaHei" pitchFamily="34" charset="-120"/>
              </a:rPr>
              <a:t>关键技术研究</a:t>
            </a:r>
            <a:endParaRPr lang="en-US" sz="1900" dirty="0"/>
          </a:p>
        </p:txBody>
      </p:sp>
      <p:sp>
        <p:nvSpPr>
          <p:cNvPr id="20" name="Shape 18"/>
          <p:cNvSpPr/>
          <p:nvPr/>
        </p:nvSpPr>
        <p:spPr>
          <a:xfrm>
            <a:off x="1664208" y="4279392"/>
            <a:ext cx="4297680" cy="0"/>
          </a:xfrm>
          <a:prstGeom prst="line">
            <a:avLst/>
          </a:prstGeom>
          <a:noFill/>
          <a:ln w="12700">
            <a:solidFill>
              <a:srgbClr val="B8D7EF"/>
            </a:solidFill>
            <a:prstDash val="solid"/>
          </a:ln>
        </p:spPr>
      </p:sp>
      <p:sp>
        <p:nvSpPr>
          <p:cNvPr id="21" name="Text 19"/>
          <p:cNvSpPr/>
          <p:nvPr/>
        </p:nvSpPr>
        <p:spPr>
          <a:xfrm>
            <a:off x="5833872" y="4014216"/>
            <a:ext cx="137160" cy="182880"/>
          </a:xfrm>
          <a:prstGeom prst="rect">
            <a:avLst/>
          </a:prstGeom>
          <a:noFill/>
          <a:ln/>
        </p:spPr>
        <p:txBody>
          <a:bodyPr wrap="square" lIns="0" tIns="0" rIns="0" bIns="0" rtlCol="0" anchor="ctr"/>
          <a:lstStyle/>
          <a:p>
            <a:pPr indent="0" marL="0">
              <a:buNone/>
            </a:pPr>
            <a:r>
              <a:rPr lang="en-US" sz="1800" dirty="0">
                <a:solidFill>
                  <a:srgbClr val="4EA1D9"/>
                </a:solidFill>
                <a:latin typeface="Aptos" pitchFamily="34" charset="0"/>
                <a:ea typeface="Aptos" pitchFamily="34" charset="-122"/>
                <a:cs typeface="Aptos" pitchFamily="34" charset="-120"/>
              </a:rPr>
              <a:t>·</a:t>
            </a:r>
            <a:endParaRPr lang="en-US" sz="1800" dirty="0"/>
          </a:p>
        </p:txBody>
      </p:sp>
      <p:sp>
        <p:nvSpPr>
          <p:cNvPr id="22" name="Shape 20"/>
          <p:cNvSpPr/>
          <p:nvPr/>
        </p:nvSpPr>
        <p:spPr>
          <a:xfrm>
            <a:off x="804672" y="4782312"/>
            <a:ext cx="566928" cy="347472"/>
          </a:xfrm>
          <a:prstGeom prst="roundRect">
            <a:avLst>
              <a:gd name="adj" fmla="val 13158"/>
            </a:avLst>
          </a:prstGeom>
          <a:solidFill>
            <a:srgbClr val="002FA7"/>
          </a:solidFill>
          <a:ln w="12700">
            <a:solidFill>
              <a:srgbClr val="002FA7"/>
            </a:solidFill>
            <a:prstDash val="solid"/>
          </a:ln>
        </p:spPr>
      </p:sp>
      <p:sp>
        <p:nvSpPr>
          <p:cNvPr id="23" name="Text 21"/>
          <p:cNvSpPr/>
          <p:nvPr/>
        </p:nvSpPr>
        <p:spPr>
          <a:xfrm>
            <a:off x="804672" y="4828032"/>
            <a:ext cx="566928" cy="146304"/>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04</a:t>
            </a:r>
            <a:endParaRPr lang="en-US" sz="1100" dirty="0"/>
          </a:p>
        </p:txBody>
      </p:sp>
      <p:sp>
        <p:nvSpPr>
          <p:cNvPr id="24" name="Text 22"/>
          <p:cNvSpPr/>
          <p:nvPr/>
        </p:nvSpPr>
        <p:spPr>
          <a:xfrm>
            <a:off x="1645920" y="4782312"/>
            <a:ext cx="3840480" cy="274320"/>
          </a:xfrm>
          <a:prstGeom prst="rect">
            <a:avLst/>
          </a:prstGeom>
          <a:noFill/>
          <a:ln/>
        </p:spPr>
        <p:txBody>
          <a:bodyPr wrap="square" lIns="0" tIns="0" rIns="0" bIns="0" rtlCol="0" anchor="ctr"/>
          <a:lstStyle/>
          <a:p>
            <a:pPr indent="0" marL="0">
              <a:buNone/>
            </a:pPr>
            <a:r>
              <a:rPr lang="en-US" sz="1900" b="1" dirty="0">
                <a:solidFill>
                  <a:srgbClr val="002FA7"/>
                </a:solidFill>
                <a:latin typeface="Microsoft YaHei" pitchFamily="34" charset="0"/>
                <a:ea typeface="Microsoft YaHei" pitchFamily="34" charset="-122"/>
                <a:cs typeface="Microsoft YaHei" pitchFamily="34" charset="-120"/>
              </a:rPr>
              <a:t>系统实现与功能展示</a:t>
            </a:r>
            <a:endParaRPr lang="en-US" sz="1900" dirty="0"/>
          </a:p>
        </p:txBody>
      </p:sp>
      <p:sp>
        <p:nvSpPr>
          <p:cNvPr id="25" name="Shape 23"/>
          <p:cNvSpPr/>
          <p:nvPr/>
        </p:nvSpPr>
        <p:spPr>
          <a:xfrm>
            <a:off x="1664208" y="5056632"/>
            <a:ext cx="4297680" cy="0"/>
          </a:xfrm>
          <a:prstGeom prst="line">
            <a:avLst/>
          </a:prstGeom>
          <a:noFill/>
          <a:ln w="12700">
            <a:solidFill>
              <a:srgbClr val="B8D7EF"/>
            </a:solidFill>
            <a:prstDash val="solid"/>
          </a:ln>
        </p:spPr>
      </p:sp>
      <p:sp>
        <p:nvSpPr>
          <p:cNvPr id="26" name="Text 24"/>
          <p:cNvSpPr/>
          <p:nvPr/>
        </p:nvSpPr>
        <p:spPr>
          <a:xfrm>
            <a:off x="5833872" y="4791456"/>
            <a:ext cx="137160" cy="182880"/>
          </a:xfrm>
          <a:prstGeom prst="rect">
            <a:avLst/>
          </a:prstGeom>
          <a:noFill/>
          <a:ln/>
        </p:spPr>
        <p:txBody>
          <a:bodyPr wrap="square" lIns="0" tIns="0" rIns="0" bIns="0" rtlCol="0" anchor="ctr"/>
          <a:lstStyle/>
          <a:p>
            <a:pPr indent="0" marL="0">
              <a:buNone/>
            </a:pPr>
            <a:r>
              <a:rPr lang="en-US" sz="1800" dirty="0">
                <a:solidFill>
                  <a:srgbClr val="4EA1D9"/>
                </a:solidFill>
                <a:latin typeface="Aptos" pitchFamily="34" charset="0"/>
                <a:ea typeface="Aptos" pitchFamily="34" charset="-122"/>
                <a:cs typeface="Aptos" pitchFamily="34" charset="-120"/>
              </a:rPr>
              <a:t>·</a:t>
            </a:r>
            <a:endParaRPr lang="en-US" sz="1800" dirty="0"/>
          </a:p>
        </p:txBody>
      </p:sp>
      <p:sp>
        <p:nvSpPr>
          <p:cNvPr id="27" name="Shape 25"/>
          <p:cNvSpPr/>
          <p:nvPr/>
        </p:nvSpPr>
        <p:spPr>
          <a:xfrm>
            <a:off x="804672" y="5559552"/>
            <a:ext cx="566928" cy="347472"/>
          </a:xfrm>
          <a:prstGeom prst="roundRect">
            <a:avLst>
              <a:gd name="adj" fmla="val 13158"/>
            </a:avLst>
          </a:prstGeom>
          <a:solidFill>
            <a:srgbClr val="002FA7"/>
          </a:solidFill>
          <a:ln w="12700">
            <a:solidFill>
              <a:srgbClr val="002FA7"/>
            </a:solidFill>
            <a:prstDash val="solid"/>
          </a:ln>
        </p:spPr>
      </p:sp>
      <p:sp>
        <p:nvSpPr>
          <p:cNvPr id="28" name="Text 26"/>
          <p:cNvSpPr/>
          <p:nvPr/>
        </p:nvSpPr>
        <p:spPr>
          <a:xfrm>
            <a:off x="804672" y="5605272"/>
            <a:ext cx="566928" cy="146304"/>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05</a:t>
            </a:r>
            <a:endParaRPr lang="en-US" sz="1100" dirty="0"/>
          </a:p>
        </p:txBody>
      </p:sp>
      <p:sp>
        <p:nvSpPr>
          <p:cNvPr id="29" name="Text 27"/>
          <p:cNvSpPr/>
          <p:nvPr/>
        </p:nvSpPr>
        <p:spPr>
          <a:xfrm>
            <a:off x="1645920" y="5559552"/>
            <a:ext cx="3840480" cy="274320"/>
          </a:xfrm>
          <a:prstGeom prst="rect">
            <a:avLst/>
          </a:prstGeom>
          <a:noFill/>
          <a:ln/>
        </p:spPr>
        <p:txBody>
          <a:bodyPr wrap="square" lIns="0" tIns="0" rIns="0" bIns="0" rtlCol="0" anchor="ctr"/>
          <a:lstStyle/>
          <a:p>
            <a:pPr indent="0" marL="0">
              <a:buNone/>
            </a:pPr>
            <a:r>
              <a:rPr lang="en-US" sz="1900" b="1" dirty="0">
                <a:solidFill>
                  <a:srgbClr val="002FA7"/>
                </a:solidFill>
                <a:latin typeface="Microsoft YaHei" pitchFamily="34" charset="0"/>
                <a:ea typeface="Microsoft YaHei" pitchFamily="34" charset="-122"/>
                <a:cs typeface="Microsoft YaHei" pitchFamily="34" charset="-120"/>
              </a:rPr>
              <a:t>总结与展望</a:t>
            </a:r>
            <a:endParaRPr lang="en-US" sz="1900" dirty="0"/>
          </a:p>
        </p:txBody>
      </p:sp>
      <p:sp>
        <p:nvSpPr>
          <p:cNvPr id="30" name="Shape 28"/>
          <p:cNvSpPr/>
          <p:nvPr/>
        </p:nvSpPr>
        <p:spPr>
          <a:xfrm>
            <a:off x="1664208" y="5833872"/>
            <a:ext cx="4297680" cy="0"/>
          </a:xfrm>
          <a:prstGeom prst="line">
            <a:avLst/>
          </a:prstGeom>
          <a:noFill/>
          <a:ln w="12700">
            <a:solidFill>
              <a:srgbClr val="B8D7EF"/>
            </a:solidFill>
            <a:prstDash val="solid"/>
          </a:ln>
        </p:spPr>
      </p:sp>
      <p:sp>
        <p:nvSpPr>
          <p:cNvPr id="31" name="Text 29"/>
          <p:cNvSpPr/>
          <p:nvPr/>
        </p:nvSpPr>
        <p:spPr>
          <a:xfrm>
            <a:off x="5833872" y="5568696"/>
            <a:ext cx="137160" cy="182880"/>
          </a:xfrm>
          <a:prstGeom prst="rect">
            <a:avLst/>
          </a:prstGeom>
          <a:noFill/>
          <a:ln/>
        </p:spPr>
        <p:txBody>
          <a:bodyPr wrap="square" lIns="0" tIns="0" rIns="0" bIns="0" rtlCol="0" anchor="ctr"/>
          <a:lstStyle/>
          <a:p>
            <a:pPr indent="0" marL="0">
              <a:buNone/>
            </a:pPr>
            <a:r>
              <a:rPr lang="en-US" sz="1800" dirty="0">
                <a:solidFill>
                  <a:srgbClr val="4EA1D9"/>
                </a:solidFill>
                <a:latin typeface="Aptos" pitchFamily="34" charset="0"/>
                <a:ea typeface="Aptos" pitchFamily="34" charset="-122"/>
                <a:cs typeface="Aptos" pitchFamily="34" charset="-120"/>
              </a:rPr>
              <a:t>·</a:t>
            </a:r>
            <a:endParaRPr lang="en-US" sz="1800" dirty="0"/>
          </a:p>
        </p:txBody>
      </p:sp>
      <p:sp>
        <p:nvSpPr>
          <p:cNvPr id="32" name="Text 30"/>
          <p:cNvSpPr/>
          <p:nvPr/>
        </p:nvSpPr>
        <p:spPr>
          <a:xfrm>
            <a:off x="6400800" y="1783080"/>
            <a:ext cx="4389120" cy="502920"/>
          </a:xfrm>
          <a:prstGeom prst="rect">
            <a:avLst/>
          </a:prstGeom>
          <a:noFill/>
          <a:ln/>
        </p:spPr>
        <p:txBody>
          <a:bodyPr wrap="square" lIns="0" tIns="0" rIns="0" bIns="0" rtlCol="0" anchor="ctr"/>
          <a:lstStyle/>
          <a:p>
            <a:pPr indent="0" marL="0">
              <a:buNone/>
            </a:pPr>
            <a:r>
              <a:rPr lang="en-US" sz="1100" dirty="0">
                <a:solidFill>
                  <a:srgbClr val="505050"/>
                </a:solidFill>
                <a:latin typeface="Microsoft YaHei" pitchFamily="34" charset="0"/>
                <a:ea typeface="Microsoft YaHei" pitchFamily="34" charset="-122"/>
                <a:cs typeface="Microsoft YaHei" pitchFamily="34" charset="-120"/>
              </a:rPr>
              <a:t>目录项都是可编辑文本框，你可以直接改成自己的章节名称。</a:t>
            </a:r>
            <a:endParaRPr lang="en-US" sz="1100" dirty="0"/>
          </a:p>
        </p:txBody>
      </p:sp>
      <p:sp>
        <p:nvSpPr>
          <p:cNvPr id="33" name="Shape 31"/>
          <p:cNvSpPr/>
          <p:nvPr/>
        </p:nvSpPr>
        <p:spPr>
          <a:xfrm>
            <a:off x="6446520" y="2514600"/>
            <a:ext cx="4160520" cy="3657600"/>
          </a:xfrm>
          <a:prstGeom prst="rect">
            <a:avLst/>
          </a:prstGeom>
          <a:solidFill>
            <a:srgbClr val="EEF6FD">
              <a:alpha val="80000"/>
            </a:srgbClr>
          </a:solidFill>
          <a:ln w="12700">
            <a:solidFill>
              <a:srgbClr val="DCEAF7"/>
            </a:solidFill>
            <a:prstDash val="solid"/>
          </a:ln>
        </p:spPr>
      </p:sp>
      <p:sp>
        <p:nvSpPr>
          <p:cNvPr id="34" name="Text 32"/>
          <p:cNvSpPr/>
          <p:nvPr/>
        </p:nvSpPr>
        <p:spPr>
          <a:xfrm>
            <a:off x="6903720" y="3749040"/>
            <a:ext cx="3246120" cy="731520"/>
          </a:xfrm>
          <a:prstGeom prst="rect">
            <a:avLst/>
          </a:prstGeom>
          <a:noFill/>
          <a:ln/>
        </p:spPr>
        <p:txBody>
          <a:bodyPr wrap="square" lIns="0" tIns="0" rIns="0" bIns="0" rtlCol="0" anchor="ctr"/>
          <a:lstStyle/>
          <a:p>
            <a:pPr algn="ctr" indent="0" marL="0">
              <a:buNone/>
            </a:pPr>
            <a:r>
              <a:rPr lang="en-US" sz="1600" dirty="0">
                <a:solidFill>
                  <a:srgbClr val="7AA9C8"/>
                </a:solidFill>
                <a:latin typeface="Microsoft YaHei" pitchFamily="34" charset="0"/>
                <a:ea typeface="Microsoft YaHei" pitchFamily="34" charset="-122"/>
                <a:cs typeface="Microsoft YaHei" pitchFamily="34" charset="-120"/>
              </a:rPr>
              <a:t>这里可以放你的目录配图</a:t>
            </a:r>
            <a:endParaRPr lang="en-US" sz="1600" dirty="0"/>
          </a:p>
          <a:p>
            <a:pPr algn="ctr" indent="0" marL="0">
              <a:buNone/>
            </a:pPr>
            <a:r>
              <a:rPr lang="en-US" sz="1600" dirty="0">
                <a:solidFill>
                  <a:srgbClr val="7AA9C8"/>
                </a:solidFill>
                <a:latin typeface="Microsoft YaHei" pitchFamily="34" charset="0"/>
                <a:ea typeface="Microsoft YaHei" pitchFamily="34" charset="-122"/>
                <a:cs typeface="Microsoft YaHei" pitchFamily="34" charset="-120"/>
              </a:rPr>
              <a:t>或继续保留留白</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AF8"/>
        </a:solidFill>
      </p:bgPr>
    </p:bg>
    <p:spTree>
      <p:nvGrpSpPr>
        <p:cNvPr id="1" name=""/>
        <p:cNvGrpSpPr/>
        <p:nvPr/>
      </p:nvGrpSpPr>
      <p:grpSpPr>
        <a:xfrm>
          <a:off x="0" y="0"/>
          <a:ext cx="0" cy="0"/>
          <a:chOff x="0" y="0"/>
          <a:chExt cx="0" cy="0"/>
        </a:xfrm>
      </p:grpSpPr>
      <p:sp>
        <p:nvSpPr>
          <p:cNvPr id="2" name="Text 0"/>
          <p:cNvSpPr/>
          <p:nvPr/>
        </p:nvSpPr>
        <p:spPr>
          <a:xfrm>
            <a:off x="457200" y="182880"/>
            <a:ext cx="4937760" cy="182880"/>
          </a:xfrm>
          <a:prstGeom prst="rect">
            <a:avLst/>
          </a:prstGeom>
          <a:noFill/>
          <a:ln/>
        </p:spPr>
        <p:txBody>
          <a:bodyPr wrap="square" lIns="0" tIns="0" rIns="0" bIns="0" rtlCol="0" anchor="ctr"/>
          <a:lstStyle/>
          <a:p>
            <a:pPr indent="0" marL="0">
              <a:buNone/>
            </a:pPr>
            <a:r>
              <a:rPr lang="en-US" sz="900" dirty="0">
                <a:solidFill>
                  <a:srgbClr val="666666"/>
                </a:solidFill>
                <a:latin typeface="Aptos" pitchFamily="34" charset="0"/>
                <a:ea typeface="Aptos" pitchFamily="34" charset="-122"/>
                <a:cs typeface="Aptos" pitchFamily="34" charset="-120"/>
              </a:rPr>
              <a:t>RESEARCH OBJECTIVES</a:t>
            </a:r>
            <a:endParaRPr lang="en-US" sz="900" dirty="0"/>
          </a:p>
        </p:txBody>
      </p:sp>
      <p:sp>
        <p:nvSpPr>
          <p:cNvPr id="3" name="Text 1"/>
          <p:cNvSpPr/>
          <p:nvPr/>
        </p:nvSpPr>
        <p:spPr>
          <a:xfrm>
            <a:off x="9875520" y="182880"/>
            <a:ext cx="1828800" cy="182880"/>
          </a:xfrm>
          <a:prstGeom prst="rect">
            <a:avLst/>
          </a:prstGeom>
          <a:noFill/>
          <a:ln/>
        </p:spPr>
        <p:txBody>
          <a:bodyPr wrap="square" lIns="0" tIns="0" rIns="0" bIns="0" rtlCol="0" anchor="ctr"/>
          <a:lstStyle/>
          <a:p>
            <a:pPr algn="r" indent="0" marL="0">
              <a:buNone/>
            </a:pPr>
            <a:r>
              <a:rPr lang="en-US" sz="900" dirty="0">
                <a:solidFill>
                  <a:srgbClr val="666666"/>
                </a:solidFill>
                <a:latin typeface="Aptos" pitchFamily="34" charset="0"/>
                <a:ea typeface="Aptos" pitchFamily="34" charset="-122"/>
                <a:cs typeface="Aptos" pitchFamily="34" charset="-120"/>
              </a:rPr>
              <a:t>03 / 10</a:t>
            </a:r>
            <a:endParaRPr lang="en-US" sz="900" dirty="0"/>
          </a:p>
        </p:txBody>
      </p:sp>
      <p:sp>
        <p:nvSpPr>
          <p:cNvPr id="4" name="Text 2"/>
          <p:cNvSpPr/>
          <p:nvPr/>
        </p:nvSpPr>
        <p:spPr>
          <a:xfrm>
            <a:off x="640080" y="640080"/>
            <a:ext cx="4389120" cy="228600"/>
          </a:xfrm>
          <a:prstGeom prst="rect">
            <a:avLst/>
          </a:prstGeom>
          <a:noFill/>
          <a:ln/>
        </p:spPr>
        <p:txBody>
          <a:bodyPr wrap="square" lIns="0" tIns="0" rIns="0" bIns="0" rtlCol="0" anchor="ctr"/>
          <a:lstStyle/>
          <a:p>
            <a:pPr indent="0" marL="0">
              <a:buNone/>
            </a:pPr>
            <a:r>
              <a:rPr lang="en-US" sz="1000" dirty="0">
                <a:solidFill>
                  <a:srgbClr val="666666"/>
                </a:solidFill>
                <a:latin typeface="Aptos" pitchFamily="34" charset="0"/>
                <a:ea typeface="Aptos" pitchFamily="34" charset="-122"/>
                <a:cs typeface="Aptos" pitchFamily="34" charset="-120"/>
              </a:rPr>
              <a:t>MAIN WORK · FOUR PARTS</a:t>
            </a:r>
            <a:endParaRPr lang="en-US" sz="1000" dirty="0"/>
          </a:p>
        </p:txBody>
      </p:sp>
      <p:sp>
        <p:nvSpPr>
          <p:cNvPr id="5" name="Text 3"/>
          <p:cNvSpPr/>
          <p:nvPr/>
        </p:nvSpPr>
        <p:spPr>
          <a:xfrm>
            <a:off x="640080" y="914400"/>
            <a:ext cx="6035040" cy="640080"/>
          </a:xfrm>
          <a:prstGeom prst="rect">
            <a:avLst/>
          </a:prstGeom>
          <a:noFill/>
          <a:ln/>
        </p:spPr>
        <p:txBody>
          <a:bodyPr wrap="square" lIns="0" tIns="0" rIns="0" bIns="0" rtlCol="0" anchor="ctr"/>
          <a:lstStyle/>
          <a:p>
            <a:pPr indent="0" marL="0">
              <a:buNone/>
            </a:pPr>
            <a:r>
              <a:rPr lang="en-US" sz="2400" dirty="0">
                <a:solidFill>
                  <a:srgbClr val="0A0A0A"/>
                </a:solidFill>
                <a:latin typeface="Microsoft YaHei" pitchFamily="34" charset="0"/>
                <a:ea typeface="Microsoft YaHei" pitchFamily="34" charset="-122"/>
                <a:cs typeface="Microsoft YaHei" pitchFamily="34" charset="-120"/>
              </a:rPr>
              <a:t>论文核心工作与答辩主线</a:t>
            </a:r>
            <a:endParaRPr lang="en-US" sz="2400" dirty="0"/>
          </a:p>
        </p:txBody>
      </p:sp>
      <p:sp>
        <p:nvSpPr>
          <p:cNvPr id="6" name="Shape 4"/>
          <p:cNvSpPr/>
          <p:nvPr/>
        </p:nvSpPr>
        <p:spPr>
          <a:xfrm>
            <a:off x="731520" y="1828800"/>
            <a:ext cx="2651760" cy="1737360"/>
          </a:xfrm>
          <a:prstGeom prst="rect">
            <a:avLst/>
          </a:prstGeom>
          <a:solidFill>
            <a:srgbClr val="F2F2EE"/>
          </a:solidFill>
          <a:ln w="12700">
            <a:solidFill>
              <a:srgbClr val="D8D8D2"/>
            </a:solidFill>
            <a:prstDash val="solid"/>
          </a:ln>
        </p:spPr>
      </p:sp>
      <p:sp>
        <p:nvSpPr>
          <p:cNvPr id="7" name="Text 5"/>
          <p:cNvSpPr/>
          <p:nvPr/>
        </p:nvSpPr>
        <p:spPr>
          <a:xfrm>
            <a:off x="868680" y="1938528"/>
            <a:ext cx="2377440" cy="228600"/>
          </a:xfrm>
          <a:prstGeom prst="rect">
            <a:avLst/>
          </a:prstGeom>
          <a:noFill/>
          <a:ln/>
        </p:spPr>
        <p:txBody>
          <a:bodyPr wrap="square" lIns="0" tIns="0" rIns="0" bIns="0" rtlCol="0" anchor="ctr"/>
          <a:lstStyle/>
          <a:p>
            <a:pPr indent="0" marL="0">
              <a:buNone/>
            </a:pPr>
            <a:r>
              <a:rPr lang="en-US" sz="1000" b="1" dirty="0">
                <a:solidFill>
                  <a:srgbClr val="444444"/>
                </a:solidFill>
                <a:latin typeface="Aptos" pitchFamily="34" charset="0"/>
                <a:ea typeface="Aptos" pitchFamily="34" charset="-122"/>
                <a:cs typeface="Aptos" pitchFamily="34" charset="-120"/>
              </a:rPr>
              <a:t>01 数据治理</a:t>
            </a:r>
            <a:endParaRPr lang="en-US" sz="1000" dirty="0"/>
          </a:p>
        </p:txBody>
      </p:sp>
      <p:sp>
        <p:nvSpPr>
          <p:cNvPr id="8" name="Text 6"/>
          <p:cNvSpPr/>
          <p:nvPr/>
        </p:nvSpPr>
        <p:spPr>
          <a:xfrm>
            <a:off x="868680" y="2212848"/>
            <a:ext cx="2377440" cy="1261872"/>
          </a:xfrm>
          <a:prstGeom prst="rect">
            <a:avLst/>
          </a:prstGeom>
          <a:noFill/>
          <a:ln/>
        </p:spPr>
        <p:txBody>
          <a:bodyPr wrap="square" lIns="0" tIns="0" rIns="0" bIns="0" rtlCol="0" anchor="t">
            <a:normAutofit/>
          </a:bodyPr>
          <a:lstStyle/>
          <a:p>
            <a:pPr indent="0" marL="0">
              <a:buNone/>
            </a:pPr>
            <a:r>
              <a:rPr lang="en-US" sz="1100" dirty="0">
                <a:solidFill>
                  <a:srgbClr val="505050"/>
                </a:solidFill>
                <a:latin typeface="Microsoft YaHei" pitchFamily="34" charset="0"/>
                <a:ea typeface="Microsoft YaHei" pitchFamily="34" charset="-122"/>
                <a:cs typeface="Microsoft YaHei" pitchFamily="34" charset="-120"/>
              </a:rPr>
              <a:t>围绕输电塔、风机、导线等关键对象持续清洗与重构训练集。</a:t>
            </a:r>
            <a:endParaRPr lang="en-US" sz="1100" dirty="0"/>
          </a:p>
        </p:txBody>
      </p:sp>
      <p:sp>
        <p:nvSpPr>
          <p:cNvPr id="9" name="Shape 7"/>
          <p:cNvSpPr/>
          <p:nvPr/>
        </p:nvSpPr>
        <p:spPr>
          <a:xfrm>
            <a:off x="3611880" y="1828800"/>
            <a:ext cx="2651760" cy="1737360"/>
          </a:xfrm>
          <a:prstGeom prst="rect">
            <a:avLst/>
          </a:prstGeom>
          <a:solidFill>
            <a:srgbClr val="F2F2EE"/>
          </a:solidFill>
          <a:ln w="12700">
            <a:solidFill>
              <a:srgbClr val="D8D8D2"/>
            </a:solidFill>
            <a:prstDash val="solid"/>
          </a:ln>
        </p:spPr>
      </p:sp>
      <p:sp>
        <p:nvSpPr>
          <p:cNvPr id="10" name="Text 8"/>
          <p:cNvSpPr/>
          <p:nvPr/>
        </p:nvSpPr>
        <p:spPr>
          <a:xfrm>
            <a:off x="3749040" y="1938528"/>
            <a:ext cx="2377440" cy="228600"/>
          </a:xfrm>
          <a:prstGeom prst="rect">
            <a:avLst/>
          </a:prstGeom>
          <a:noFill/>
          <a:ln/>
        </p:spPr>
        <p:txBody>
          <a:bodyPr wrap="square" lIns="0" tIns="0" rIns="0" bIns="0" rtlCol="0" anchor="ctr"/>
          <a:lstStyle/>
          <a:p>
            <a:pPr indent="0" marL="0">
              <a:buNone/>
            </a:pPr>
            <a:r>
              <a:rPr lang="en-US" sz="1000" b="1" dirty="0">
                <a:solidFill>
                  <a:srgbClr val="444444"/>
                </a:solidFill>
                <a:latin typeface="Aptos" pitchFamily="34" charset="0"/>
                <a:ea typeface="Aptos" pitchFamily="34" charset="-122"/>
                <a:cs typeface="Aptos" pitchFamily="34" charset="-120"/>
              </a:rPr>
              <a:t>02 生成模型</a:t>
            </a:r>
            <a:endParaRPr lang="en-US" sz="1000" dirty="0"/>
          </a:p>
        </p:txBody>
      </p:sp>
      <p:sp>
        <p:nvSpPr>
          <p:cNvPr id="11" name="Text 9"/>
          <p:cNvSpPr/>
          <p:nvPr/>
        </p:nvSpPr>
        <p:spPr>
          <a:xfrm>
            <a:off x="3749040" y="2212848"/>
            <a:ext cx="2377440" cy="1261872"/>
          </a:xfrm>
          <a:prstGeom prst="rect">
            <a:avLst/>
          </a:prstGeom>
          <a:noFill/>
          <a:ln/>
        </p:spPr>
        <p:txBody>
          <a:bodyPr wrap="square" lIns="0" tIns="0" rIns="0" bIns="0" rtlCol="0" anchor="t">
            <a:normAutofit/>
          </a:bodyPr>
          <a:lstStyle/>
          <a:p>
            <a:pPr indent="0" marL="0">
              <a:buNone/>
            </a:pPr>
            <a:r>
              <a:rPr lang="en-US" sz="1100" dirty="0">
                <a:solidFill>
                  <a:srgbClr val="505050"/>
                </a:solidFill>
                <a:latin typeface="Microsoft YaHei" pitchFamily="34" charset="0"/>
                <a:ea typeface="Microsoft YaHei" pitchFamily="34" charset="-122"/>
                <a:cs typeface="Microsoft YaHei" pitchFamily="34" charset="-120"/>
              </a:rPr>
              <a:t>基于提示词控制与 LoRA 微调提升电力设备细节和专业构图稳定性。</a:t>
            </a:r>
            <a:endParaRPr lang="en-US" sz="1100" dirty="0"/>
          </a:p>
        </p:txBody>
      </p:sp>
      <p:sp>
        <p:nvSpPr>
          <p:cNvPr id="12" name="Shape 10"/>
          <p:cNvSpPr/>
          <p:nvPr/>
        </p:nvSpPr>
        <p:spPr>
          <a:xfrm>
            <a:off x="6492240" y="1828800"/>
            <a:ext cx="2651760" cy="1737360"/>
          </a:xfrm>
          <a:prstGeom prst="rect">
            <a:avLst/>
          </a:prstGeom>
          <a:solidFill>
            <a:srgbClr val="002FA7"/>
          </a:solidFill>
          <a:ln w="12700">
            <a:solidFill>
              <a:srgbClr val="002FA7"/>
            </a:solidFill>
            <a:prstDash val="solid"/>
          </a:ln>
        </p:spPr>
      </p:sp>
      <p:sp>
        <p:nvSpPr>
          <p:cNvPr id="13" name="Text 11"/>
          <p:cNvSpPr/>
          <p:nvPr/>
        </p:nvSpPr>
        <p:spPr>
          <a:xfrm>
            <a:off x="6629400" y="1938528"/>
            <a:ext cx="2377440" cy="228600"/>
          </a:xfrm>
          <a:prstGeom prst="rect">
            <a:avLst/>
          </a:prstGeom>
          <a:noFill/>
          <a:ln/>
        </p:spPr>
        <p:txBody>
          <a:bodyPr wrap="square" lIns="0" tIns="0" rIns="0" bIns="0" rtlCol="0" anchor="ctr"/>
          <a:lstStyle/>
          <a:p>
            <a:pPr indent="0" marL="0">
              <a:buNone/>
            </a:pPr>
            <a:r>
              <a:rPr lang="en-US" sz="1000" b="1" dirty="0">
                <a:solidFill>
                  <a:srgbClr val="FFFFFF"/>
                </a:solidFill>
                <a:latin typeface="Aptos" pitchFamily="34" charset="0"/>
                <a:ea typeface="Aptos" pitchFamily="34" charset="-122"/>
                <a:cs typeface="Aptos" pitchFamily="34" charset="-120"/>
              </a:rPr>
              <a:t>03 质量评价</a:t>
            </a:r>
            <a:endParaRPr lang="en-US" sz="1000" dirty="0"/>
          </a:p>
        </p:txBody>
      </p:sp>
      <p:sp>
        <p:nvSpPr>
          <p:cNvPr id="14" name="Text 12"/>
          <p:cNvSpPr/>
          <p:nvPr/>
        </p:nvSpPr>
        <p:spPr>
          <a:xfrm>
            <a:off x="6629400" y="2212848"/>
            <a:ext cx="2377440" cy="1261872"/>
          </a:xfrm>
          <a:prstGeom prst="rect">
            <a:avLst/>
          </a:prstGeom>
          <a:noFill/>
          <a:ln/>
        </p:spPr>
        <p:txBody>
          <a:bodyPr wrap="square" lIns="0" tIns="0" rIns="0" bIns="0" rtlCol="0" anchor="t">
            <a:normAutofit/>
          </a:bodyPr>
          <a:lstStyle/>
          <a:p>
            <a:pPr indent="0" marL="0">
              <a:buNone/>
            </a:pPr>
            <a:r>
              <a:rPr lang="en-US" sz="1100" dirty="0">
                <a:solidFill>
                  <a:srgbClr val="FFFFFF"/>
                </a:solidFill>
                <a:latin typeface="Microsoft YaHei" pitchFamily="34" charset="0"/>
                <a:ea typeface="Microsoft YaHei" pitchFamily="34" charset="-122"/>
                <a:cs typeface="Microsoft YaHei" pitchFamily="34" charset="-120"/>
              </a:rPr>
              <a:t>构建四维评分体系，并使用 YOLOv11 辅助检测结果验证行业对象可识别性。</a:t>
            </a:r>
            <a:endParaRPr lang="en-US" sz="1100" dirty="0"/>
          </a:p>
        </p:txBody>
      </p:sp>
      <p:sp>
        <p:nvSpPr>
          <p:cNvPr id="15" name="Shape 13"/>
          <p:cNvSpPr/>
          <p:nvPr/>
        </p:nvSpPr>
        <p:spPr>
          <a:xfrm>
            <a:off x="9372600" y="1828800"/>
            <a:ext cx="2057400" cy="1737360"/>
          </a:xfrm>
          <a:prstGeom prst="rect">
            <a:avLst/>
          </a:prstGeom>
          <a:solidFill>
            <a:srgbClr val="F2F2EE"/>
          </a:solidFill>
          <a:ln w="12700">
            <a:solidFill>
              <a:srgbClr val="D8D8D2"/>
            </a:solidFill>
            <a:prstDash val="solid"/>
          </a:ln>
        </p:spPr>
      </p:sp>
      <p:sp>
        <p:nvSpPr>
          <p:cNvPr id="16" name="Text 14"/>
          <p:cNvSpPr/>
          <p:nvPr/>
        </p:nvSpPr>
        <p:spPr>
          <a:xfrm>
            <a:off x="9509760" y="1938528"/>
            <a:ext cx="1783080" cy="228600"/>
          </a:xfrm>
          <a:prstGeom prst="rect">
            <a:avLst/>
          </a:prstGeom>
          <a:noFill/>
          <a:ln/>
        </p:spPr>
        <p:txBody>
          <a:bodyPr wrap="square" lIns="0" tIns="0" rIns="0" bIns="0" rtlCol="0" anchor="ctr"/>
          <a:lstStyle/>
          <a:p>
            <a:pPr indent="0" marL="0">
              <a:buNone/>
            </a:pPr>
            <a:r>
              <a:rPr lang="en-US" sz="1000" b="1" dirty="0">
                <a:solidFill>
                  <a:srgbClr val="444444"/>
                </a:solidFill>
                <a:latin typeface="Aptos" pitchFamily="34" charset="0"/>
                <a:ea typeface="Aptos" pitchFamily="34" charset="-122"/>
                <a:cs typeface="Aptos" pitchFamily="34" charset="-120"/>
              </a:rPr>
              <a:t>04 平台验证</a:t>
            </a:r>
            <a:endParaRPr lang="en-US" sz="1000" dirty="0"/>
          </a:p>
        </p:txBody>
      </p:sp>
      <p:sp>
        <p:nvSpPr>
          <p:cNvPr id="17" name="Text 15"/>
          <p:cNvSpPr/>
          <p:nvPr/>
        </p:nvSpPr>
        <p:spPr>
          <a:xfrm>
            <a:off x="9509760" y="2212848"/>
            <a:ext cx="1783080" cy="1261872"/>
          </a:xfrm>
          <a:prstGeom prst="rect">
            <a:avLst/>
          </a:prstGeom>
          <a:noFill/>
          <a:ln/>
        </p:spPr>
        <p:txBody>
          <a:bodyPr wrap="square" lIns="0" tIns="0" rIns="0" bIns="0" rtlCol="0" anchor="t">
            <a:normAutofit/>
          </a:bodyPr>
          <a:lstStyle/>
          <a:p>
            <a:pPr indent="0" marL="0">
              <a:buNone/>
            </a:pPr>
            <a:r>
              <a:rPr lang="en-US" sz="1100" dirty="0">
                <a:solidFill>
                  <a:srgbClr val="505050"/>
                </a:solidFill>
                <a:latin typeface="Microsoft YaHei" pitchFamily="34" charset="0"/>
                <a:ea typeface="Microsoft YaHei" pitchFamily="34" charset="-122"/>
                <a:cs typeface="Microsoft YaHei" pitchFamily="34" charset="-120"/>
              </a:rPr>
              <a:t>基于 Vue3、Go、Python、MySQL、Redis 构建工程化业务闭环。</a:t>
            </a:r>
            <a:endParaRPr lang="en-US" sz="1100" dirty="0"/>
          </a:p>
        </p:txBody>
      </p:sp>
      <p:sp>
        <p:nvSpPr>
          <p:cNvPr id="18" name="Text 16"/>
          <p:cNvSpPr/>
          <p:nvPr/>
        </p:nvSpPr>
        <p:spPr>
          <a:xfrm>
            <a:off x="822960" y="4069080"/>
            <a:ext cx="10789920" cy="1645920"/>
          </a:xfrm>
          <a:prstGeom prst="rect">
            <a:avLst/>
          </a:prstGeom>
          <a:noFill/>
          <a:ln/>
        </p:spPr>
        <p:txBody>
          <a:bodyPr wrap="square" lIns="25400" tIns="25400" rIns="25400" bIns="25400" rtlCol="0" anchor="t">
            <a:normAutofit/>
          </a:bodyPr>
          <a:lstStyle/>
          <a:p>
            <a:pPr marL="177800" indent="-177800">
              <a:buSzPct val="100000"/>
              <a:buChar char="•"/>
            </a:pPr>
            <a:r>
              <a:rPr lang="en-US" sz="1300" dirty="0">
                <a:solidFill>
                  <a:srgbClr val="0A0A0A"/>
                </a:solidFill>
                <a:latin typeface="Microsoft YaHei" pitchFamily="34" charset="0"/>
                <a:ea typeface="Microsoft YaHei" pitchFamily="34" charset="-122"/>
                <a:cs typeface="Microsoft YaHei" pitchFamily="34" charset="-120"/>
              </a:rPr>
              <a:t>第 3 章：系统需求分析与总体设计</a:t>
            </a:r>
            <a:endParaRPr lang="en-US" sz="1300" dirty="0"/>
          </a:p>
          <a:p>
            <a:pPr marL="177800" indent="-177800">
              <a:buSzPct val="100000"/>
              <a:buChar char="•"/>
            </a:pPr>
            <a:r>
              <a:rPr lang="en-US" sz="1300" dirty="0">
                <a:solidFill>
                  <a:srgbClr val="0A0A0A"/>
                </a:solidFill>
                <a:latin typeface="Microsoft YaHei" pitchFamily="34" charset="0"/>
                <a:ea typeface="Microsoft YaHei" pitchFamily="34" charset="-122"/>
                <a:cs typeface="Microsoft YaHei" pitchFamily="34" charset="-120"/>
              </a:rPr>
              <a:t>第 4 章：模型训练、优化实现与辅助检测实验</a:t>
            </a:r>
            <a:endParaRPr lang="en-US" sz="1300" dirty="0"/>
          </a:p>
          <a:p>
            <a:pPr marL="177800" indent="-177800">
              <a:buSzPct val="100000"/>
              <a:buChar char="•"/>
            </a:pPr>
            <a:r>
              <a:rPr lang="en-US" sz="1300" dirty="0">
                <a:solidFill>
                  <a:srgbClr val="0A0A0A"/>
                </a:solidFill>
                <a:latin typeface="Microsoft YaHei" pitchFamily="34" charset="0"/>
                <a:ea typeface="Microsoft YaHei" pitchFamily="34" charset="-122"/>
                <a:cs typeface="Microsoft YaHei" pitchFamily="34" charset="-120"/>
              </a:rPr>
              <a:t>第 5 章：平台实现、应用验证与结果分析</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AF8"/>
        </a:solidFill>
      </p:bgPr>
    </p:bg>
    <p:spTree>
      <p:nvGrpSpPr>
        <p:cNvPr id="1" name=""/>
        <p:cNvGrpSpPr/>
        <p:nvPr/>
      </p:nvGrpSpPr>
      <p:grpSpPr>
        <a:xfrm>
          <a:off x="0" y="0"/>
          <a:ext cx="0" cy="0"/>
          <a:chOff x="0" y="0"/>
          <a:chExt cx="0" cy="0"/>
        </a:xfrm>
      </p:grpSpPr>
      <p:sp>
        <p:nvSpPr>
          <p:cNvPr id="2" name="Text 0"/>
          <p:cNvSpPr/>
          <p:nvPr/>
        </p:nvSpPr>
        <p:spPr>
          <a:xfrm>
            <a:off x="457200" y="182880"/>
            <a:ext cx="4937760" cy="182880"/>
          </a:xfrm>
          <a:prstGeom prst="rect">
            <a:avLst/>
          </a:prstGeom>
          <a:noFill/>
          <a:ln/>
        </p:spPr>
        <p:txBody>
          <a:bodyPr wrap="square" lIns="0" tIns="0" rIns="0" bIns="0" rtlCol="0" anchor="ctr"/>
          <a:lstStyle/>
          <a:p>
            <a:pPr indent="0" marL="0">
              <a:buNone/>
            </a:pPr>
            <a:r>
              <a:rPr lang="en-US" sz="900" dirty="0">
                <a:solidFill>
                  <a:srgbClr val="666666"/>
                </a:solidFill>
                <a:latin typeface="Aptos" pitchFamily="34" charset="0"/>
                <a:ea typeface="Aptos" pitchFamily="34" charset="-122"/>
                <a:cs typeface="Aptos" pitchFamily="34" charset="-120"/>
              </a:rPr>
              <a:t>SYSTEM DESIGN</a:t>
            </a:r>
            <a:endParaRPr lang="en-US" sz="900" dirty="0"/>
          </a:p>
        </p:txBody>
      </p:sp>
      <p:sp>
        <p:nvSpPr>
          <p:cNvPr id="3" name="Text 1"/>
          <p:cNvSpPr/>
          <p:nvPr/>
        </p:nvSpPr>
        <p:spPr>
          <a:xfrm>
            <a:off x="9875520" y="182880"/>
            <a:ext cx="1828800" cy="182880"/>
          </a:xfrm>
          <a:prstGeom prst="rect">
            <a:avLst/>
          </a:prstGeom>
          <a:noFill/>
          <a:ln/>
        </p:spPr>
        <p:txBody>
          <a:bodyPr wrap="square" lIns="0" tIns="0" rIns="0" bIns="0" rtlCol="0" anchor="ctr"/>
          <a:lstStyle/>
          <a:p>
            <a:pPr algn="r" indent="0" marL="0">
              <a:buNone/>
            </a:pPr>
            <a:r>
              <a:rPr lang="en-US" sz="900" dirty="0">
                <a:solidFill>
                  <a:srgbClr val="666666"/>
                </a:solidFill>
                <a:latin typeface="Aptos" pitchFamily="34" charset="0"/>
                <a:ea typeface="Aptos" pitchFamily="34" charset="-122"/>
                <a:cs typeface="Aptos" pitchFamily="34" charset="-120"/>
              </a:rPr>
              <a:t>04 / 10</a:t>
            </a:r>
            <a:endParaRPr lang="en-US" sz="900" dirty="0"/>
          </a:p>
        </p:txBody>
      </p:sp>
      <p:sp>
        <p:nvSpPr>
          <p:cNvPr id="4" name="Text 2"/>
          <p:cNvSpPr/>
          <p:nvPr/>
        </p:nvSpPr>
        <p:spPr>
          <a:xfrm>
            <a:off x="640080" y="640080"/>
            <a:ext cx="4389120" cy="228600"/>
          </a:xfrm>
          <a:prstGeom prst="rect">
            <a:avLst/>
          </a:prstGeom>
          <a:noFill/>
          <a:ln/>
        </p:spPr>
        <p:txBody>
          <a:bodyPr wrap="square" lIns="0" tIns="0" rIns="0" bIns="0" rtlCol="0" anchor="ctr"/>
          <a:lstStyle/>
          <a:p>
            <a:pPr indent="0" marL="0">
              <a:buNone/>
            </a:pPr>
            <a:r>
              <a:rPr lang="en-US" sz="1000" dirty="0">
                <a:solidFill>
                  <a:srgbClr val="666666"/>
                </a:solidFill>
                <a:latin typeface="Aptos" pitchFamily="34" charset="0"/>
                <a:ea typeface="Aptos" pitchFamily="34" charset="-122"/>
                <a:cs typeface="Aptos" pitchFamily="34" charset="-120"/>
              </a:rPr>
              <a:t>SYSTEM ARCHITECTURE · DATA STORAGE</a:t>
            </a:r>
            <a:endParaRPr lang="en-US" sz="1000" dirty="0"/>
          </a:p>
        </p:txBody>
      </p:sp>
      <p:sp>
        <p:nvSpPr>
          <p:cNvPr id="5" name="Text 3"/>
          <p:cNvSpPr/>
          <p:nvPr/>
        </p:nvSpPr>
        <p:spPr>
          <a:xfrm>
            <a:off x="640080" y="914400"/>
            <a:ext cx="6035040" cy="640080"/>
          </a:xfrm>
          <a:prstGeom prst="rect">
            <a:avLst/>
          </a:prstGeom>
          <a:noFill/>
          <a:ln/>
        </p:spPr>
        <p:txBody>
          <a:bodyPr wrap="square" lIns="0" tIns="0" rIns="0" bIns="0" rtlCol="0" anchor="ctr"/>
          <a:lstStyle/>
          <a:p>
            <a:pPr indent="0" marL="0">
              <a:buNone/>
            </a:pPr>
            <a:r>
              <a:rPr lang="en-US" sz="2400" dirty="0">
                <a:solidFill>
                  <a:srgbClr val="0A0A0A"/>
                </a:solidFill>
                <a:latin typeface="Microsoft YaHei" pitchFamily="34" charset="0"/>
                <a:ea typeface="Microsoft YaHei" pitchFamily="34" charset="-122"/>
                <a:cs typeface="Microsoft YaHei" pitchFamily="34" charset="-120"/>
              </a:rPr>
              <a:t>系统总体架构与数据存储设计</a:t>
            </a:r>
            <a:endParaRPr lang="en-US" sz="2400" dirty="0"/>
          </a:p>
        </p:txBody>
      </p:sp>
      <p:sp>
        <p:nvSpPr>
          <p:cNvPr id="6" name="Text 4"/>
          <p:cNvSpPr/>
          <p:nvPr/>
        </p:nvSpPr>
        <p:spPr>
          <a:xfrm>
            <a:off x="640080" y="1645920"/>
            <a:ext cx="6583680" cy="548640"/>
          </a:xfrm>
          <a:prstGeom prst="rect">
            <a:avLst/>
          </a:prstGeom>
          <a:noFill/>
          <a:ln/>
        </p:spPr>
        <p:txBody>
          <a:bodyPr wrap="square" lIns="0" tIns="0" rIns="0" bIns="0" rtlCol="0" anchor="ctr"/>
          <a:lstStyle/>
          <a:p>
            <a:pPr indent="0" marL="0">
              <a:buNone/>
            </a:pPr>
            <a:r>
              <a:rPr lang="en-US" sz="1100" dirty="0">
                <a:solidFill>
                  <a:srgbClr val="505050"/>
                </a:solidFill>
                <a:latin typeface="Microsoft YaHei" pitchFamily="34" charset="0"/>
                <a:ea typeface="Microsoft YaHei" pitchFamily="34" charset="-122"/>
                <a:cs typeface="Microsoft YaHei" pitchFamily="34" charset="-120"/>
              </a:rPr>
              <a:t>前端、Go 微服务、Python AI 运行时、数据库与文件存储共同形成业务闭环。</a:t>
            </a:r>
            <a:endParaRPr lang="en-US" sz="1100" dirty="0"/>
          </a:p>
        </p:txBody>
      </p:sp>
      <p:pic>
        <p:nvPicPr>
          <p:cNvPr id="7" name="Image 0" descr="/Users/hrzt/code/vibe coding/codex/毕业设计/electric-ai-platform/ppt/images/04-system-architecture.png">    </p:cNvPr>
          <p:cNvPicPr>
            <a:picLocks noChangeAspect="1"/>
          </p:cNvPicPr>
          <p:nvPr/>
        </p:nvPicPr>
        <p:blipFill>
          <a:blip r:embed="rId1"/>
          <a:srcRect l="0" r="0" t="0" b="0"/>
          <a:stretch/>
        </p:blipFill>
        <p:spPr>
          <a:xfrm>
            <a:off x="731520" y="2057400"/>
            <a:ext cx="5303520" cy="3017520"/>
          </a:xfrm>
          <a:prstGeom prst="rect">
            <a:avLst/>
          </a:prstGeom>
        </p:spPr>
      </p:pic>
      <p:sp>
        <p:nvSpPr>
          <p:cNvPr id="8" name="Text 5"/>
          <p:cNvSpPr/>
          <p:nvPr/>
        </p:nvSpPr>
        <p:spPr>
          <a:xfrm>
            <a:off x="731520" y="5129784"/>
            <a:ext cx="5303520" cy="182880"/>
          </a:xfrm>
          <a:prstGeom prst="rect">
            <a:avLst/>
          </a:prstGeom>
          <a:noFill/>
          <a:ln/>
        </p:spPr>
        <p:txBody>
          <a:bodyPr wrap="square" lIns="0" tIns="0" rIns="0" bIns="0" rtlCol="0" anchor="ctr"/>
          <a:lstStyle/>
          <a:p>
            <a:pPr indent="0" marL="0">
              <a:buNone/>
            </a:pPr>
            <a:r>
              <a:rPr lang="en-US" sz="1000" b="1" dirty="0">
                <a:solidFill>
                  <a:srgbClr val="0A0A0A"/>
                </a:solidFill>
                <a:latin typeface="Microsoft YaHei" pitchFamily="34" charset="0"/>
                <a:ea typeface="Microsoft YaHei" pitchFamily="34" charset="-122"/>
                <a:cs typeface="Microsoft YaHei" pitchFamily="34" charset="-120"/>
              </a:rPr>
              <a:t>平台协同架构</a:t>
            </a:r>
            <a:endParaRPr lang="en-US" sz="1000" dirty="0"/>
          </a:p>
        </p:txBody>
      </p:sp>
      <p:sp>
        <p:nvSpPr>
          <p:cNvPr id="9" name="Text 6"/>
          <p:cNvSpPr/>
          <p:nvPr/>
        </p:nvSpPr>
        <p:spPr>
          <a:xfrm>
            <a:off x="731520" y="5294376"/>
            <a:ext cx="5303520" cy="201168"/>
          </a:xfrm>
          <a:prstGeom prst="rect">
            <a:avLst/>
          </a:prstGeom>
          <a:noFill/>
          <a:ln/>
        </p:spPr>
        <p:txBody>
          <a:bodyPr wrap="square" lIns="0" tIns="0" rIns="0" bIns="0" rtlCol="0" anchor="ctr"/>
          <a:lstStyle/>
          <a:p>
            <a:pPr indent="0" marL="0">
              <a:buNone/>
            </a:pPr>
            <a:r>
              <a:rPr lang="en-US" sz="850" dirty="0">
                <a:solidFill>
                  <a:srgbClr val="666666"/>
                </a:solidFill>
                <a:latin typeface="Microsoft YaHei" pitchFamily="34" charset="0"/>
                <a:ea typeface="Microsoft YaHei" pitchFamily="34" charset="-122"/>
                <a:cs typeface="Microsoft YaHei" pitchFamily="34" charset="-120"/>
              </a:rPr>
              <a:t>任务管理 / 模型调度 / 结果回写</a:t>
            </a:r>
            <a:endParaRPr lang="en-US" sz="850" dirty="0"/>
          </a:p>
        </p:txBody>
      </p:sp>
      <p:pic>
        <p:nvPicPr>
          <p:cNvPr id="10" name="Image 1" descr="/Users/hrzt/code/vibe coding/codex/毕业设计/electric-ai-platform/ppt/images/05-database-er.png">    </p:cNvPr>
          <p:cNvPicPr>
            <a:picLocks noChangeAspect="1"/>
          </p:cNvPicPr>
          <p:nvPr/>
        </p:nvPicPr>
        <p:blipFill>
          <a:blip r:embed="rId2"/>
          <a:srcRect l="0" r="0" t="0" b="0"/>
          <a:stretch/>
        </p:blipFill>
        <p:spPr>
          <a:xfrm>
            <a:off x="6355080" y="2057400"/>
            <a:ext cx="5074920" cy="3017520"/>
          </a:xfrm>
          <a:prstGeom prst="rect">
            <a:avLst/>
          </a:prstGeom>
        </p:spPr>
      </p:pic>
      <p:sp>
        <p:nvSpPr>
          <p:cNvPr id="11" name="Text 7"/>
          <p:cNvSpPr/>
          <p:nvPr/>
        </p:nvSpPr>
        <p:spPr>
          <a:xfrm>
            <a:off x="6355080" y="5129784"/>
            <a:ext cx="5074920" cy="182880"/>
          </a:xfrm>
          <a:prstGeom prst="rect">
            <a:avLst/>
          </a:prstGeom>
          <a:noFill/>
          <a:ln/>
        </p:spPr>
        <p:txBody>
          <a:bodyPr wrap="square" lIns="0" tIns="0" rIns="0" bIns="0" rtlCol="0" anchor="ctr"/>
          <a:lstStyle/>
          <a:p>
            <a:pPr indent="0" marL="0">
              <a:buNone/>
            </a:pPr>
            <a:r>
              <a:rPr lang="en-US" sz="1000" b="1" dirty="0">
                <a:solidFill>
                  <a:srgbClr val="0A0A0A"/>
                </a:solidFill>
                <a:latin typeface="Microsoft YaHei" pitchFamily="34" charset="0"/>
                <a:ea typeface="Microsoft YaHei" pitchFamily="34" charset="-122"/>
                <a:cs typeface="Microsoft YaHei" pitchFamily="34" charset="-120"/>
              </a:rPr>
              <a:t>数据库与存储结构</a:t>
            </a:r>
            <a:endParaRPr lang="en-US" sz="1000" dirty="0"/>
          </a:p>
        </p:txBody>
      </p:sp>
      <p:sp>
        <p:nvSpPr>
          <p:cNvPr id="12" name="Text 8"/>
          <p:cNvSpPr/>
          <p:nvPr/>
        </p:nvSpPr>
        <p:spPr>
          <a:xfrm>
            <a:off x="6355080" y="5294376"/>
            <a:ext cx="5074920" cy="201168"/>
          </a:xfrm>
          <a:prstGeom prst="rect">
            <a:avLst/>
          </a:prstGeom>
          <a:noFill/>
          <a:ln/>
        </p:spPr>
        <p:txBody>
          <a:bodyPr wrap="square" lIns="0" tIns="0" rIns="0" bIns="0" rtlCol="0" anchor="ctr"/>
          <a:lstStyle/>
          <a:p>
            <a:pPr indent="0" marL="0">
              <a:buNone/>
            </a:pPr>
            <a:r>
              <a:rPr lang="en-US" sz="850" dirty="0">
                <a:solidFill>
                  <a:srgbClr val="666666"/>
                </a:solidFill>
                <a:latin typeface="Microsoft YaHei" pitchFamily="34" charset="0"/>
                <a:ea typeface="Microsoft YaHei" pitchFamily="34" charset="-122"/>
                <a:cs typeface="Microsoft YaHei" pitchFamily="34" charset="-120"/>
              </a:rPr>
              <a:t>MySQL + Redis + 文件存储联合设计</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AF8"/>
        </a:solidFill>
      </p:bgPr>
    </p:bg>
    <p:spTree>
      <p:nvGrpSpPr>
        <p:cNvPr id="1" name=""/>
        <p:cNvGrpSpPr/>
        <p:nvPr/>
      </p:nvGrpSpPr>
      <p:grpSpPr>
        <a:xfrm>
          <a:off x="0" y="0"/>
          <a:ext cx="0" cy="0"/>
          <a:chOff x="0" y="0"/>
          <a:chExt cx="0" cy="0"/>
        </a:xfrm>
      </p:grpSpPr>
      <p:sp>
        <p:nvSpPr>
          <p:cNvPr id="2" name="Text 0"/>
          <p:cNvSpPr/>
          <p:nvPr/>
        </p:nvSpPr>
        <p:spPr>
          <a:xfrm>
            <a:off x="457200" y="182880"/>
            <a:ext cx="4937760" cy="182880"/>
          </a:xfrm>
          <a:prstGeom prst="rect">
            <a:avLst/>
          </a:prstGeom>
          <a:noFill/>
          <a:ln/>
        </p:spPr>
        <p:txBody>
          <a:bodyPr wrap="square" lIns="0" tIns="0" rIns="0" bIns="0" rtlCol="0" anchor="ctr"/>
          <a:lstStyle/>
          <a:p>
            <a:pPr indent="0" marL="0">
              <a:buNone/>
            </a:pPr>
            <a:r>
              <a:rPr lang="en-US" sz="900" dirty="0">
                <a:solidFill>
                  <a:srgbClr val="666666"/>
                </a:solidFill>
                <a:latin typeface="Aptos" pitchFamily="34" charset="0"/>
                <a:ea typeface="Aptos" pitchFamily="34" charset="-122"/>
                <a:cs typeface="Aptos" pitchFamily="34" charset="-120"/>
              </a:rPr>
              <a:t>MODEL WORKFLOW</a:t>
            </a:r>
            <a:endParaRPr lang="en-US" sz="900" dirty="0"/>
          </a:p>
        </p:txBody>
      </p:sp>
      <p:sp>
        <p:nvSpPr>
          <p:cNvPr id="3" name="Text 1"/>
          <p:cNvSpPr/>
          <p:nvPr/>
        </p:nvSpPr>
        <p:spPr>
          <a:xfrm>
            <a:off x="9875520" y="182880"/>
            <a:ext cx="1828800" cy="182880"/>
          </a:xfrm>
          <a:prstGeom prst="rect">
            <a:avLst/>
          </a:prstGeom>
          <a:noFill/>
          <a:ln/>
        </p:spPr>
        <p:txBody>
          <a:bodyPr wrap="square" lIns="0" tIns="0" rIns="0" bIns="0" rtlCol="0" anchor="ctr"/>
          <a:lstStyle/>
          <a:p>
            <a:pPr algn="r" indent="0" marL="0">
              <a:buNone/>
            </a:pPr>
            <a:r>
              <a:rPr lang="en-US" sz="900" dirty="0">
                <a:solidFill>
                  <a:srgbClr val="666666"/>
                </a:solidFill>
                <a:latin typeface="Aptos" pitchFamily="34" charset="0"/>
                <a:ea typeface="Aptos" pitchFamily="34" charset="-122"/>
                <a:cs typeface="Aptos" pitchFamily="34" charset="-120"/>
              </a:rPr>
              <a:t>05 / 10</a:t>
            </a:r>
            <a:endParaRPr lang="en-US" sz="900" dirty="0"/>
          </a:p>
        </p:txBody>
      </p:sp>
      <p:sp>
        <p:nvSpPr>
          <p:cNvPr id="4" name="Text 2"/>
          <p:cNvSpPr/>
          <p:nvPr/>
        </p:nvSpPr>
        <p:spPr>
          <a:xfrm>
            <a:off x="640080" y="640080"/>
            <a:ext cx="4389120" cy="228600"/>
          </a:xfrm>
          <a:prstGeom prst="rect">
            <a:avLst/>
          </a:prstGeom>
          <a:noFill/>
          <a:ln/>
        </p:spPr>
        <p:txBody>
          <a:bodyPr wrap="square" lIns="0" tIns="0" rIns="0" bIns="0" rtlCol="0" anchor="ctr"/>
          <a:lstStyle/>
          <a:p>
            <a:pPr indent="0" marL="0">
              <a:buNone/>
            </a:pPr>
            <a:r>
              <a:rPr lang="en-US" sz="1000" dirty="0">
                <a:solidFill>
                  <a:srgbClr val="666666"/>
                </a:solidFill>
                <a:latin typeface="Aptos" pitchFamily="34" charset="0"/>
                <a:ea typeface="Aptos" pitchFamily="34" charset="-122"/>
                <a:cs typeface="Aptos" pitchFamily="34" charset="-120"/>
              </a:rPr>
              <a:t>GENERATION PIPELINE · EVALUATION PIPELINE</a:t>
            </a:r>
            <a:endParaRPr lang="en-US" sz="1000" dirty="0"/>
          </a:p>
        </p:txBody>
      </p:sp>
      <p:sp>
        <p:nvSpPr>
          <p:cNvPr id="5" name="Text 3"/>
          <p:cNvSpPr/>
          <p:nvPr/>
        </p:nvSpPr>
        <p:spPr>
          <a:xfrm>
            <a:off x="640080" y="914400"/>
            <a:ext cx="6035040" cy="640080"/>
          </a:xfrm>
          <a:prstGeom prst="rect">
            <a:avLst/>
          </a:prstGeom>
          <a:noFill/>
          <a:ln/>
        </p:spPr>
        <p:txBody>
          <a:bodyPr wrap="square" lIns="0" tIns="0" rIns="0" bIns="0" rtlCol="0" anchor="ctr"/>
          <a:lstStyle/>
          <a:p>
            <a:pPr indent="0" marL="0">
              <a:buNone/>
            </a:pPr>
            <a:r>
              <a:rPr lang="en-US" sz="2400" dirty="0">
                <a:solidFill>
                  <a:srgbClr val="0A0A0A"/>
                </a:solidFill>
                <a:latin typeface="Microsoft YaHei" pitchFamily="34" charset="0"/>
                <a:ea typeface="Microsoft YaHei" pitchFamily="34" charset="-122"/>
                <a:cs typeface="Microsoft YaHei" pitchFamily="34" charset="-120"/>
              </a:rPr>
              <a:t>生成模型与评分模型双链路协同</a:t>
            </a:r>
            <a:endParaRPr lang="en-US" sz="2400" dirty="0"/>
          </a:p>
        </p:txBody>
      </p:sp>
      <p:sp>
        <p:nvSpPr>
          <p:cNvPr id="6" name="Shape 4"/>
          <p:cNvSpPr/>
          <p:nvPr/>
        </p:nvSpPr>
        <p:spPr>
          <a:xfrm>
            <a:off x="731520" y="1828800"/>
            <a:ext cx="5303520" cy="3566160"/>
          </a:xfrm>
          <a:prstGeom prst="rect">
            <a:avLst/>
          </a:prstGeom>
          <a:solidFill>
            <a:srgbClr val="F2F2EE"/>
          </a:solidFill>
          <a:ln w="12700">
            <a:solidFill>
              <a:srgbClr val="D8D8D2"/>
            </a:solidFill>
            <a:prstDash val="solid"/>
          </a:ln>
        </p:spPr>
      </p:sp>
      <p:sp>
        <p:nvSpPr>
          <p:cNvPr id="7" name="Text 5"/>
          <p:cNvSpPr/>
          <p:nvPr/>
        </p:nvSpPr>
        <p:spPr>
          <a:xfrm>
            <a:off x="868680" y="1938528"/>
            <a:ext cx="5029200" cy="228600"/>
          </a:xfrm>
          <a:prstGeom prst="rect">
            <a:avLst/>
          </a:prstGeom>
          <a:noFill/>
          <a:ln/>
        </p:spPr>
        <p:txBody>
          <a:bodyPr wrap="square" lIns="0" tIns="0" rIns="0" bIns="0" rtlCol="0" anchor="ctr"/>
          <a:lstStyle/>
          <a:p>
            <a:pPr indent="0" marL="0">
              <a:buNone/>
            </a:pPr>
            <a:r>
              <a:rPr lang="en-US" sz="1000" b="1" dirty="0">
                <a:solidFill>
                  <a:srgbClr val="444444"/>
                </a:solidFill>
                <a:latin typeface="Aptos" pitchFamily="34" charset="0"/>
                <a:ea typeface="Aptos" pitchFamily="34" charset="-122"/>
                <a:cs typeface="Aptos" pitchFamily="34" charset="-120"/>
              </a:rPr>
              <a:t>生成链路</a:t>
            </a:r>
            <a:endParaRPr lang="en-US" sz="1000" dirty="0"/>
          </a:p>
        </p:txBody>
      </p:sp>
      <p:sp>
        <p:nvSpPr>
          <p:cNvPr id="8" name="Text 6"/>
          <p:cNvSpPr/>
          <p:nvPr/>
        </p:nvSpPr>
        <p:spPr>
          <a:xfrm>
            <a:off x="868680" y="2212848"/>
            <a:ext cx="5029200" cy="3090672"/>
          </a:xfrm>
          <a:prstGeom prst="rect">
            <a:avLst/>
          </a:prstGeom>
          <a:noFill/>
          <a:ln/>
        </p:spPr>
        <p:txBody>
          <a:bodyPr wrap="square" lIns="0" tIns="0" rIns="0" bIns="0" rtlCol="0" anchor="t">
            <a:normAutofit/>
          </a:bodyPr>
          <a:lstStyle/>
          <a:p>
            <a:pPr indent="0" marL="0">
              <a:buNone/>
            </a:pPr>
            <a:r>
              <a:rPr lang="en-US" sz="1100" dirty="0">
                <a:solidFill>
                  <a:srgbClr val="505050"/>
                </a:solidFill>
                <a:latin typeface="Microsoft YaHei" pitchFamily="34" charset="0"/>
                <a:ea typeface="Microsoft YaHei" pitchFamily="34" charset="-122"/>
                <a:cs typeface="Microsoft YaHei" pitchFamily="34" charset="-120"/>
              </a:rPr>
              <a:t>1. 提示词控制</a:t>
            </a:r>
            <a:endParaRPr lang="en-US" sz="1100" dirty="0"/>
          </a:p>
          <a:p>
            <a:pPr indent="0" marL="0">
              <a:buNone/>
            </a:pPr>
            <a:r>
              <a:rPr lang="en-US" sz="1100" dirty="0">
                <a:solidFill>
                  <a:srgbClr val="505050"/>
                </a:solidFill>
                <a:latin typeface="Microsoft YaHei" pitchFamily="34" charset="0"/>
                <a:ea typeface="Microsoft YaHei" pitchFamily="34" charset="-122"/>
                <a:cs typeface="Microsoft YaHei" pitchFamily="34" charset="-120"/>
              </a:rPr>
              <a:t>2. LoRA 微调</a:t>
            </a:r>
            <a:endParaRPr lang="en-US" sz="1100" dirty="0"/>
          </a:p>
          <a:p>
            <a:pPr indent="0" marL="0">
              <a:buNone/>
            </a:pPr>
            <a:r>
              <a:rPr lang="en-US" sz="1100" dirty="0">
                <a:solidFill>
                  <a:srgbClr val="505050"/>
                </a:solidFill>
                <a:latin typeface="Microsoft YaHei" pitchFamily="34" charset="0"/>
                <a:ea typeface="Microsoft YaHei" pitchFamily="34" charset="-122"/>
                <a:cs typeface="Microsoft YaHei" pitchFamily="34" charset="-120"/>
              </a:rPr>
              <a:t>3. 样本治理</a:t>
            </a:r>
            <a:endParaRPr lang="en-US" sz="1100" dirty="0"/>
          </a:p>
          <a:p>
            <a:pPr indent="0" marL="0">
              <a:buNone/>
            </a:pPr>
            <a:r>
              <a:rPr lang="en-US" sz="1100" dirty="0">
                <a:solidFill>
                  <a:srgbClr val="505050"/>
                </a:solidFill>
                <a:latin typeface="Microsoft YaHei" pitchFamily="34" charset="0"/>
                <a:ea typeface="Microsoft YaHei" pitchFamily="34" charset="-122"/>
                <a:cs typeface="Microsoft YaHei" pitchFamily="34" charset="-120"/>
              </a:rPr>
              <a:t>4. 结果持久化</a:t>
            </a:r>
            <a:endParaRPr lang="en-US" sz="1100" dirty="0"/>
          </a:p>
        </p:txBody>
      </p:sp>
      <p:sp>
        <p:nvSpPr>
          <p:cNvPr id="9" name="Shape 7"/>
          <p:cNvSpPr/>
          <p:nvPr/>
        </p:nvSpPr>
        <p:spPr>
          <a:xfrm>
            <a:off x="6309360" y="1828800"/>
            <a:ext cx="5120640" cy="3566160"/>
          </a:xfrm>
          <a:prstGeom prst="rect">
            <a:avLst/>
          </a:prstGeom>
          <a:solidFill>
            <a:srgbClr val="002FA7"/>
          </a:solidFill>
          <a:ln w="12700">
            <a:solidFill>
              <a:srgbClr val="002FA7"/>
            </a:solidFill>
            <a:prstDash val="solid"/>
          </a:ln>
        </p:spPr>
      </p:sp>
      <p:sp>
        <p:nvSpPr>
          <p:cNvPr id="10" name="Text 8"/>
          <p:cNvSpPr/>
          <p:nvPr/>
        </p:nvSpPr>
        <p:spPr>
          <a:xfrm>
            <a:off x="6446520" y="1938528"/>
            <a:ext cx="4846320" cy="228600"/>
          </a:xfrm>
          <a:prstGeom prst="rect">
            <a:avLst/>
          </a:prstGeom>
          <a:noFill/>
          <a:ln/>
        </p:spPr>
        <p:txBody>
          <a:bodyPr wrap="square" lIns="0" tIns="0" rIns="0" bIns="0" rtlCol="0" anchor="ctr"/>
          <a:lstStyle/>
          <a:p>
            <a:pPr indent="0" marL="0">
              <a:buNone/>
            </a:pPr>
            <a:r>
              <a:rPr lang="en-US" sz="1000" b="1" dirty="0">
                <a:solidFill>
                  <a:srgbClr val="FFFFFF"/>
                </a:solidFill>
                <a:latin typeface="Aptos" pitchFamily="34" charset="0"/>
                <a:ea typeface="Aptos" pitchFamily="34" charset="-122"/>
                <a:cs typeface="Aptos" pitchFamily="34" charset="-120"/>
              </a:rPr>
              <a:t>评分链路</a:t>
            </a:r>
            <a:endParaRPr lang="en-US" sz="1000" dirty="0"/>
          </a:p>
        </p:txBody>
      </p:sp>
      <p:sp>
        <p:nvSpPr>
          <p:cNvPr id="11" name="Text 9"/>
          <p:cNvSpPr/>
          <p:nvPr/>
        </p:nvSpPr>
        <p:spPr>
          <a:xfrm>
            <a:off x="6446520" y="2212848"/>
            <a:ext cx="4846320" cy="3090672"/>
          </a:xfrm>
          <a:prstGeom prst="rect">
            <a:avLst/>
          </a:prstGeom>
          <a:noFill/>
          <a:ln/>
        </p:spPr>
        <p:txBody>
          <a:bodyPr wrap="square" lIns="0" tIns="0" rIns="0" bIns="0" rtlCol="0" anchor="t">
            <a:normAutofit/>
          </a:bodyPr>
          <a:lstStyle/>
          <a:p>
            <a:pPr indent="0" marL="0">
              <a:buNone/>
            </a:pPr>
            <a:r>
              <a:rPr lang="en-US" sz="1100" dirty="0">
                <a:solidFill>
                  <a:srgbClr val="FFFFFF"/>
                </a:solidFill>
                <a:latin typeface="Microsoft YaHei" pitchFamily="34" charset="0"/>
                <a:ea typeface="Microsoft YaHei" pitchFamily="34" charset="-122"/>
                <a:cs typeface="Microsoft YaHei" pitchFamily="34" charset="-120"/>
              </a:rPr>
              <a:t>1. 视觉保真</a:t>
            </a:r>
            <a:endParaRPr lang="en-US" sz="1100" dirty="0"/>
          </a:p>
          <a:p>
            <a:pPr indent="0" marL="0">
              <a:buNone/>
            </a:pPr>
            <a:r>
              <a:rPr lang="en-US" sz="1100" dirty="0">
                <a:solidFill>
                  <a:srgbClr val="FFFFFF"/>
                </a:solidFill>
                <a:latin typeface="Microsoft YaHei" pitchFamily="34" charset="0"/>
                <a:ea typeface="Microsoft YaHei" pitchFamily="34" charset="-122"/>
                <a:cs typeface="Microsoft YaHei" pitchFamily="34" charset="-120"/>
              </a:rPr>
              <a:t>2. 文本一致</a:t>
            </a:r>
            <a:endParaRPr lang="en-US" sz="1100" dirty="0"/>
          </a:p>
          <a:p>
            <a:pPr indent="0" marL="0">
              <a:buNone/>
            </a:pPr>
            <a:r>
              <a:rPr lang="en-US" sz="1100" dirty="0">
                <a:solidFill>
                  <a:srgbClr val="FFFFFF"/>
                </a:solidFill>
                <a:latin typeface="Microsoft YaHei" pitchFamily="34" charset="0"/>
                <a:ea typeface="Microsoft YaHei" pitchFamily="34" charset="-122"/>
                <a:cs typeface="Microsoft YaHei" pitchFamily="34" charset="-120"/>
              </a:rPr>
              <a:t>3. 物理合理</a:t>
            </a:r>
            <a:endParaRPr lang="en-US" sz="1100" dirty="0"/>
          </a:p>
          <a:p>
            <a:pPr indent="0" marL="0">
              <a:buNone/>
            </a:pPr>
            <a:r>
              <a:rPr lang="en-US" sz="1100" dirty="0">
                <a:solidFill>
                  <a:srgbClr val="FFFFFF"/>
                </a:solidFill>
                <a:latin typeface="Microsoft YaHei" pitchFamily="34" charset="0"/>
                <a:ea typeface="Microsoft YaHei" pitchFamily="34" charset="-122"/>
                <a:cs typeface="Microsoft YaHei" pitchFamily="34" charset="-120"/>
              </a:rPr>
              <a:t>4. 构图美学</a:t>
            </a:r>
            <a:endParaRPr lang="en-US" sz="1100" dirty="0"/>
          </a:p>
        </p:txBody>
      </p:sp>
      <p:sp>
        <p:nvSpPr>
          <p:cNvPr id="12" name="Text 10"/>
          <p:cNvSpPr/>
          <p:nvPr/>
        </p:nvSpPr>
        <p:spPr>
          <a:xfrm>
            <a:off x="640080" y="6473952"/>
            <a:ext cx="10972800" cy="164592"/>
          </a:xfrm>
          <a:prstGeom prst="rect">
            <a:avLst/>
          </a:prstGeom>
          <a:noFill/>
          <a:ln/>
        </p:spPr>
        <p:txBody>
          <a:bodyPr wrap="square" lIns="0" tIns="0" rIns="0" bIns="0" rtlCol="0" anchor="ctr"/>
          <a:lstStyle/>
          <a:p>
            <a:pPr algn="r" indent="0" marL="0">
              <a:buNone/>
            </a:pPr>
            <a:r>
              <a:rPr lang="en-US" sz="800" dirty="0">
                <a:solidFill>
                  <a:srgbClr val="7A7A7A"/>
                </a:solidFill>
                <a:latin typeface="Aptos" pitchFamily="34" charset="0"/>
                <a:ea typeface="Aptos" pitchFamily="34" charset="-122"/>
                <a:cs typeface="Aptos" pitchFamily="34" charset="-120"/>
              </a:rPr>
              <a:t>两条链路在平台内通过异步任务和审计记录形成闭环</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AF8"/>
        </a:solidFill>
      </p:bgPr>
    </p:bg>
    <p:spTree>
      <p:nvGrpSpPr>
        <p:cNvPr id="1" name=""/>
        <p:cNvGrpSpPr/>
        <p:nvPr/>
      </p:nvGrpSpPr>
      <p:grpSpPr>
        <a:xfrm>
          <a:off x="0" y="0"/>
          <a:ext cx="0" cy="0"/>
          <a:chOff x="0" y="0"/>
          <a:chExt cx="0" cy="0"/>
        </a:xfrm>
      </p:grpSpPr>
      <p:sp>
        <p:nvSpPr>
          <p:cNvPr id="2" name="Text 0"/>
          <p:cNvSpPr/>
          <p:nvPr/>
        </p:nvSpPr>
        <p:spPr>
          <a:xfrm>
            <a:off x="457200" y="182880"/>
            <a:ext cx="4937760" cy="182880"/>
          </a:xfrm>
          <a:prstGeom prst="rect">
            <a:avLst/>
          </a:prstGeom>
          <a:noFill/>
          <a:ln/>
        </p:spPr>
        <p:txBody>
          <a:bodyPr wrap="square" lIns="0" tIns="0" rIns="0" bIns="0" rtlCol="0" anchor="ctr"/>
          <a:lstStyle/>
          <a:p>
            <a:pPr indent="0" marL="0">
              <a:buNone/>
            </a:pPr>
            <a:r>
              <a:rPr lang="en-US" sz="900" dirty="0">
                <a:solidFill>
                  <a:srgbClr val="666666"/>
                </a:solidFill>
                <a:latin typeface="Aptos" pitchFamily="34" charset="0"/>
                <a:ea typeface="Aptos" pitchFamily="34" charset="-122"/>
                <a:cs typeface="Aptos" pitchFamily="34" charset="-120"/>
              </a:rPr>
              <a:t>TRAINING EVOLUTION</a:t>
            </a:r>
            <a:endParaRPr lang="en-US" sz="900" dirty="0"/>
          </a:p>
        </p:txBody>
      </p:sp>
      <p:sp>
        <p:nvSpPr>
          <p:cNvPr id="3" name="Text 1"/>
          <p:cNvSpPr/>
          <p:nvPr/>
        </p:nvSpPr>
        <p:spPr>
          <a:xfrm>
            <a:off x="9875520" y="182880"/>
            <a:ext cx="1828800" cy="182880"/>
          </a:xfrm>
          <a:prstGeom prst="rect">
            <a:avLst/>
          </a:prstGeom>
          <a:noFill/>
          <a:ln/>
        </p:spPr>
        <p:txBody>
          <a:bodyPr wrap="square" lIns="0" tIns="0" rIns="0" bIns="0" rtlCol="0" anchor="ctr"/>
          <a:lstStyle/>
          <a:p>
            <a:pPr algn="r" indent="0" marL="0">
              <a:buNone/>
            </a:pPr>
            <a:r>
              <a:rPr lang="en-US" sz="900" dirty="0">
                <a:solidFill>
                  <a:srgbClr val="666666"/>
                </a:solidFill>
                <a:latin typeface="Aptos" pitchFamily="34" charset="0"/>
                <a:ea typeface="Aptos" pitchFamily="34" charset="-122"/>
                <a:cs typeface="Aptos" pitchFamily="34" charset="-120"/>
              </a:rPr>
              <a:t>06 / 10</a:t>
            </a:r>
            <a:endParaRPr lang="en-US" sz="900" dirty="0"/>
          </a:p>
        </p:txBody>
      </p:sp>
      <p:sp>
        <p:nvSpPr>
          <p:cNvPr id="4" name="Text 2"/>
          <p:cNvSpPr/>
          <p:nvPr/>
        </p:nvSpPr>
        <p:spPr>
          <a:xfrm>
            <a:off x="640080" y="640080"/>
            <a:ext cx="4389120" cy="228600"/>
          </a:xfrm>
          <a:prstGeom prst="rect">
            <a:avLst/>
          </a:prstGeom>
          <a:noFill/>
          <a:ln/>
        </p:spPr>
        <p:txBody>
          <a:bodyPr wrap="square" lIns="0" tIns="0" rIns="0" bIns="0" rtlCol="0" anchor="ctr"/>
          <a:lstStyle/>
          <a:p>
            <a:pPr indent="0" marL="0">
              <a:buNone/>
            </a:pPr>
            <a:r>
              <a:rPr lang="en-US" sz="1000" dirty="0">
                <a:solidFill>
                  <a:srgbClr val="666666"/>
                </a:solidFill>
                <a:latin typeface="Aptos" pitchFamily="34" charset="0"/>
                <a:ea typeface="Aptos" pitchFamily="34" charset="-122"/>
                <a:cs typeface="Aptos" pitchFamily="34" charset="-120"/>
              </a:rPr>
              <a:t>DATA CLEANING · TRAINING PATH</a:t>
            </a:r>
            <a:endParaRPr lang="en-US" sz="1000" dirty="0"/>
          </a:p>
        </p:txBody>
      </p:sp>
      <p:sp>
        <p:nvSpPr>
          <p:cNvPr id="5" name="Text 3"/>
          <p:cNvSpPr/>
          <p:nvPr/>
        </p:nvSpPr>
        <p:spPr>
          <a:xfrm>
            <a:off x="640080" y="914400"/>
            <a:ext cx="6035040" cy="640080"/>
          </a:xfrm>
          <a:prstGeom prst="rect">
            <a:avLst/>
          </a:prstGeom>
          <a:noFill/>
          <a:ln/>
        </p:spPr>
        <p:txBody>
          <a:bodyPr wrap="square" lIns="0" tIns="0" rIns="0" bIns="0" rtlCol="0" anchor="ctr"/>
          <a:lstStyle/>
          <a:p>
            <a:pPr indent="0" marL="0">
              <a:buNone/>
            </a:pPr>
            <a:r>
              <a:rPr lang="en-US" sz="2400" dirty="0">
                <a:solidFill>
                  <a:srgbClr val="0A0A0A"/>
                </a:solidFill>
                <a:latin typeface="Microsoft YaHei" pitchFamily="34" charset="0"/>
                <a:ea typeface="Microsoft YaHei" pitchFamily="34" charset="-122"/>
                <a:cs typeface="Microsoft YaHei" pitchFamily="34" charset="-120"/>
              </a:rPr>
              <a:t>清洗版本与训练路径演进</a:t>
            </a:r>
            <a:endParaRPr lang="en-US" sz="2400" dirty="0"/>
          </a:p>
        </p:txBody>
      </p:sp>
      <p:sp>
        <p:nvSpPr>
          <p:cNvPr id="6" name="Shape 4"/>
          <p:cNvSpPr/>
          <p:nvPr/>
        </p:nvSpPr>
        <p:spPr>
          <a:xfrm>
            <a:off x="685800" y="2148840"/>
            <a:ext cx="2148840" cy="2011680"/>
          </a:xfrm>
          <a:prstGeom prst="rect">
            <a:avLst/>
          </a:prstGeom>
          <a:solidFill>
            <a:srgbClr val="F2F2EE"/>
          </a:solidFill>
          <a:ln w="12700">
            <a:solidFill>
              <a:srgbClr val="D8D8D2"/>
            </a:solidFill>
            <a:prstDash val="solid"/>
          </a:ln>
        </p:spPr>
      </p:sp>
      <p:sp>
        <p:nvSpPr>
          <p:cNvPr id="7" name="Text 5"/>
          <p:cNvSpPr/>
          <p:nvPr/>
        </p:nvSpPr>
        <p:spPr>
          <a:xfrm>
            <a:off x="822960" y="2258568"/>
            <a:ext cx="1874520" cy="228600"/>
          </a:xfrm>
          <a:prstGeom prst="rect">
            <a:avLst/>
          </a:prstGeom>
          <a:noFill/>
          <a:ln/>
        </p:spPr>
        <p:txBody>
          <a:bodyPr wrap="square" lIns="0" tIns="0" rIns="0" bIns="0" rtlCol="0" anchor="ctr"/>
          <a:lstStyle/>
          <a:p>
            <a:pPr indent="0" marL="0">
              <a:buNone/>
            </a:pPr>
            <a:r>
              <a:rPr lang="en-US" sz="1000" b="1" dirty="0">
                <a:solidFill>
                  <a:srgbClr val="444444"/>
                </a:solidFill>
                <a:latin typeface="Aptos" pitchFamily="34" charset="0"/>
                <a:ea typeface="Aptos" pitchFamily="34" charset="-122"/>
                <a:cs typeface="Aptos" pitchFamily="34" charset="-120"/>
              </a:rPr>
              <a:t>R1 基线</a:t>
            </a:r>
            <a:endParaRPr lang="en-US" sz="1000" dirty="0"/>
          </a:p>
        </p:txBody>
      </p:sp>
      <p:sp>
        <p:nvSpPr>
          <p:cNvPr id="8" name="Text 6"/>
          <p:cNvSpPr/>
          <p:nvPr/>
        </p:nvSpPr>
        <p:spPr>
          <a:xfrm>
            <a:off x="822960" y="2532888"/>
            <a:ext cx="1874520" cy="1536192"/>
          </a:xfrm>
          <a:prstGeom prst="rect">
            <a:avLst/>
          </a:prstGeom>
          <a:noFill/>
          <a:ln/>
        </p:spPr>
        <p:txBody>
          <a:bodyPr wrap="square" lIns="0" tIns="0" rIns="0" bIns="0" rtlCol="0" anchor="t">
            <a:normAutofit/>
          </a:bodyPr>
          <a:lstStyle/>
          <a:p>
            <a:pPr indent="0" marL="0">
              <a:buNone/>
            </a:pPr>
            <a:r>
              <a:rPr lang="en-US" sz="1100" dirty="0">
                <a:solidFill>
                  <a:srgbClr val="505050"/>
                </a:solidFill>
                <a:latin typeface="Microsoft YaHei" pitchFamily="34" charset="0"/>
                <a:ea typeface="Microsoft YaHei" pitchFamily="34" charset="-122"/>
                <a:cs typeface="Microsoft YaHei" pitchFamily="34" charset="-120"/>
              </a:rPr>
              <a:t>highquality-v2-pure-yolo-clean-r1</a:t>
            </a:r>
            <a:endParaRPr lang="en-US" sz="1100" dirty="0"/>
          </a:p>
          <a:p>
            <a:pPr indent="0" marL="0">
              <a:buNone/>
            </a:pPr>
            <a:r>
              <a:rPr lang="en-US" sz="1100" dirty="0">
                <a:solidFill>
                  <a:srgbClr val="505050"/>
                </a:solidFill>
                <a:latin typeface="Microsoft YaHei" pitchFamily="34" charset="0"/>
                <a:ea typeface="Microsoft YaHei" pitchFamily="34" charset="-122"/>
                <a:cs typeface="Microsoft YaHei" pitchFamily="34" charset="-120"/>
              </a:rPr>
              <a:t>mAP50 0.69417</a:t>
            </a:r>
            <a:endParaRPr lang="en-US" sz="1100" dirty="0"/>
          </a:p>
        </p:txBody>
      </p:sp>
      <p:sp>
        <p:nvSpPr>
          <p:cNvPr id="9" name="Shape 7"/>
          <p:cNvSpPr/>
          <p:nvPr/>
        </p:nvSpPr>
        <p:spPr>
          <a:xfrm>
            <a:off x="2862072" y="3154680"/>
            <a:ext cx="320040" cy="0"/>
          </a:xfrm>
          <a:prstGeom prst="line">
            <a:avLst/>
          </a:prstGeom>
          <a:noFill/>
          <a:ln w="12700">
            <a:solidFill>
              <a:srgbClr val="D8D8D2"/>
            </a:solidFill>
            <a:prstDash val="solid"/>
            <a:headEnd type="none"/>
            <a:tailEnd type="triangle"/>
          </a:ln>
        </p:spPr>
      </p:sp>
      <p:sp>
        <p:nvSpPr>
          <p:cNvPr id="10" name="Shape 8"/>
          <p:cNvSpPr/>
          <p:nvPr/>
        </p:nvSpPr>
        <p:spPr>
          <a:xfrm>
            <a:off x="2926080" y="2148840"/>
            <a:ext cx="2148840" cy="2011680"/>
          </a:xfrm>
          <a:prstGeom prst="rect">
            <a:avLst/>
          </a:prstGeom>
          <a:solidFill>
            <a:srgbClr val="F2F2EE"/>
          </a:solidFill>
          <a:ln w="12700">
            <a:solidFill>
              <a:srgbClr val="D8D8D2"/>
            </a:solidFill>
            <a:prstDash val="solid"/>
          </a:ln>
        </p:spPr>
      </p:sp>
      <p:sp>
        <p:nvSpPr>
          <p:cNvPr id="11" name="Text 9"/>
          <p:cNvSpPr/>
          <p:nvPr/>
        </p:nvSpPr>
        <p:spPr>
          <a:xfrm>
            <a:off x="3063240" y="2258568"/>
            <a:ext cx="1874520" cy="228600"/>
          </a:xfrm>
          <a:prstGeom prst="rect">
            <a:avLst/>
          </a:prstGeom>
          <a:noFill/>
          <a:ln/>
        </p:spPr>
        <p:txBody>
          <a:bodyPr wrap="square" lIns="0" tIns="0" rIns="0" bIns="0" rtlCol="0" anchor="ctr"/>
          <a:lstStyle/>
          <a:p>
            <a:pPr indent="0" marL="0">
              <a:buNone/>
            </a:pPr>
            <a:r>
              <a:rPr lang="en-US" sz="1000" b="1" dirty="0">
                <a:solidFill>
                  <a:srgbClr val="444444"/>
                </a:solidFill>
                <a:latin typeface="Aptos" pitchFamily="34" charset="0"/>
                <a:ea typeface="Aptos" pitchFamily="34" charset="-122"/>
                <a:cs typeface="Aptos" pitchFamily="34" charset="-120"/>
              </a:rPr>
              <a:t>Wind Boost</a:t>
            </a:r>
            <a:endParaRPr lang="en-US" sz="1000" dirty="0"/>
          </a:p>
        </p:txBody>
      </p:sp>
      <p:sp>
        <p:nvSpPr>
          <p:cNvPr id="12" name="Text 10"/>
          <p:cNvSpPr/>
          <p:nvPr/>
        </p:nvSpPr>
        <p:spPr>
          <a:xfrm>
            <a:off x="3063240" y="2532888"/>
            <a:ext cx="1874520" cy="1536192"/>
          </a:xfrm>
          <a:prstGeom prst="rect">
            <a:avLst/>
          </a:prstGeom>
          <a:noFill/>
          <a:ln/>
        </p:spPr>
        <p:txBody>
          <a:bodyPr wrap="square" lIns="0" tIns="0" rIns="0" bIns="0" rtlCol="0" anchor="t">
            <a:normAutofit/>
          </a:bodyPr>
          <a:lstStyle/>
          <a:p>
            <a:pPr indent="0" marL="0">
              <a:buNone/>
            </a:pPr>
            <a:r>
              <a:rPr lang="en-US" sz="1100" dirty="0">
                <a:solidFill>
                  <a:srgbClr val="505050"/>
                </a:solidFill>
                <a:latin typeface="Microsoft YaHei" pitchFamily="34" charset="0"/>
                <a:ea typeface="Microsoft YaHei" pitchFamily="34" charset="-122"/>
                <a:cs typeface="Microsoft YaHei" pitchFamily="34" charset="-120"/>
              </a:rPr>
              <a:t>boosted-wind-good1x</a:t>
            </a:r>
            <a:endParaRPr lang="en-US" sz="1100" dirty="0"/>
          </a:p>
          <a:p>
            <a:pPr indent="0" marL="0">
              <a:buNone/>
            </a:pPr>
            <a:r>
              <a:rPr lang="en-US" sz="1100" dirty="0">
                <a:solidFill>
                  <a:srgbClr val="505050"/>
                </a:solidFill>
                <a:latin typeface="Microsoft YaHei" pitchFamily="34" charset="0"/>
                <a:ea typeface="Microsoft YaHei" pitchFamily="34" charset="-122"/>
                <a:cs typeface="Microsoft YaHei" pitchFamily="34" charset="-120"/>
              </a:rPr>
              <a:t>mAP50 0.70363</a:t>
            </a:r>
            <a:endParaRPr lang="en-US" sz="1100" dirty="0"/>
          </a:p>
        </p:txBody>
      </p:sp>
      <p:sp>
        <p:nvSpPr>
          <p:cNvPr id="13" name="Shape 11"/>
          <p:cNvSpPr/>
          <p:nvPr/>
        </p:nvSpPr>
        <p:spPr>
          <a:xfrm>
            <a:off x="5102352" y="3154680"/>
            <a:ext cx="320040" cy="0"/>
          </a:xfrm>
          <a:prstGeom prst="line">
            <a:avLst/>
          </a:prstGeom>
          <a:noFill/>
          <a:ln w="12700">
            <a:solidFill>
              <a:srgbClr val="D8D8D2"/>
            </a:solidFill>
            <a:prstDash val="solid"/>
            <a:headEnd type="none"/>
            <a:tailEnd type="triangle"/>
          </a:ln>
        </p:spPr>
      </p:sp>
      <p:sp>
        <p:nvSpPr>
          <p:cNvPr id="14" name="Shape 12"/>
          <p:cNvSpPr/>
          <p:nvPr/>
        </p:nvSpPr>
        <p:spPr>
          <a:xfrm>
            <a:off x="5166360" y="2148840"/>
            <a:ext cx="2148840" cy="2011680"/>
          </a:xfrm>
          <a:prstGeom prst="rect">
            <a:avLst/>
          </a:prstGeom>
          <a:solidFill>
            <a:srgbClr val="002FA7"/>
          </a:solidFill>
          <a:ln w="12700">
            <a:solidFill>
              <a:srgbClr val="002FA7"/>
            </a:solidFill>
            <a:prstDash val="solid"/>
          </a:ln>
        </p:spPr>
      </p:sp>
      <p:sp>
        <p:nvSpPr>
          <p:cNvPr id="15" name="Text 13"/>
          <p:cNvSpPr/>
          <p:nvPr/>
        </p:nvSpPr>
        <p:spPr>
          <a:xfrm>
            <a:off x="5303520" y="2258568"/>
            <a:ext cx="1874520" cy="228600"/>
          </a:xfrm>
          <a:prstGeom prst="rect">
            <a:avLst/>
          </a:prstGeom>
          <a:noFill/>
          <a:ln/>
        </p:spPr>
        <p:txBody>
          <a:bodyPr wrap="square" lIns="0" tIns="0" rIns="0" bIns="0" rtlCol="0" anchor="ctr"/>
          <a:lstStyle/>
          <a:p>
            <a:pPr indent="0" marL="0">
              <a:buNone/>
            </a:pPr>
            <a:r>
              <a:rPr lang="en-US" sz="1000" b="1" dirty="0">
                <a:solidFill>
                  <a:srgbClr val="FFFFFF"/>
                </a:solidFill>
                <a:latin typeface="Aptos" pitchFamily="34" charset="0"/>
                <a:ea typeface="Aptos" pitchFamily="34" charset="-122"/>
                <a:cs typeface="Aptos" pitchFamily="34" charset="-120"/>
              </a:rPr>
              <a:t>Tower Clean8</a:t>
            </a:r>
            <a:endParaRPr lang="en-US" sz="1000" dirty="0"/>
          </a:p>
        </p:txBody>
      </p:sp>
      <p:sp>
        <p:nvSpPr>
          <p:cNvPr id="16" name="Text 14"/>
          <p:cNvSpPr/>
          <p:nvPr/>
        </p:nvSpPr>
        <p:spPr>
          <a:xfrm>
            <a:off x="5303520" y="2532888"/>
            <a:ext cx="1874520" cy="1536192"/>
          </a:xfrm>
          <a:prstGeom prst="rect">
            <a:avLst/>
          </a:prstGeom>
          <a:noFill/>
          <a:ln/>
        </p:spPr>
        <p:txBody>
          <a:bodyPr wrap="square" lIns="0" tIns="0" rIns="0" bIns="0" rtlCol="0" anchor="t">
            <a:normAutofit/>
          </a:bodyPr>
          <a:lstStyle/>
          <a:p>
            <a:pPr indent="0" marL="0">
              <a:buNone/>
            </a:pPr>
            <a:r>
              <a:rPr lang="en-US" sz="1100" dirty="0">
                <a:solidFill>
                  <a:srgbClr val="FFFFFF"/>
                </a:solidFill>
                <a:latin typeface="Microsoft YaHei" pitchFamily="34" charset="0"/>
                <a:ea typeface="Microsoft YaHei" pitchFamily="34" charset="-122"/>
                <a:cs typeface="Microsoft YaHei" pitchFamily="34" charset="-120"/>
              </a:rPr>
              <a:t>windgood1x-towerclean8</a:t>
            </a:r>
            <a:endParaRPr lang="en-US" sz="1100" dirty="0"/>
          </a:p>
          <a:p>
            <a:pPr indent="0" marL="0">
              <a:buNone/>
            </a:pPr>
            <a:r>
              <a:rPr lang="en-US" sz="1100" dirty="0">
                <a:solidFill>
                  <a:srgbClr val="FFFFFF"/>
                </a:solidFill>
                <a:latin typeface="Microsoft YaHei" pitchFamily="34" charset="0"/>
                <a:ea typeface="Microsoft YaHei" pitchFamily="34" charset="-122"/>
                <a:cs typeface="Microsoft YaHei" pitchFamily="34" charset="-120"/>
              </a:rPr>
              <a:t>mAP50 0.71885</a:t>
            </a:r>
            <a:endParaRPr lang="en-US" sz="1100" dirty="0"/>
          </a:p>
        </p:txBody>
      </p:sp>
      <p:sp>
        <p:nvSpPr>
          <p:cNvPr id="17" name="Shape 15"/>
          <p:cNvSpPr/>
          <p:nvPr/>
        </p:nvSpPr>
        <p:spPr>
          <a:xfrm>
            <a:off x="7342632" y="3154680"/>
            <a:ext cx="320040" cy="0"/>
          </a:xfrm>
          <a:prstGeom prst="line">
            <a:avLst/>
          </a:prstGeom>
          <a:noFill/>
          <a:ln w="12700">
            <a:solidFill>
              <a:srgbClr val="D8D8D2"/>
            </a:solidFill>
            <a:prstDash val="solid"/>
            <a:headEnd type="none"/>
            <a:tailEnd type="triangle"/>
          </a:ln>
        </p:spPr>
      </p:sp>
      <p:sp>
        <p:nvSpPr>
          <p:cNvPr id="18" name="Shape 16"/>
          <p:cNvSpPr/>
          <p:nvPr/>
        </p:nvSpPr>
        <p:spPr>
          <a:xfrm>
            <a:off x="7406640" y="2148840"/>
            <a:ext cx="2148840" cy="2011680"/>
          </a:xfrm>
          <a:prstGeom prst="rect">
            <a:avLst/>
          </a:prstGeom>
          <a:solidFill>
            <a:srgbClr val="F2F2EE"/>
          </a:solidFill>
          <a:ln w="12700">
            <a:solidFill>
              <a:srgbClr val="D8D8D2"/>
            </a:solidFill>
            <a:prstDash val="solid"/>
          </a:ln>
        </p:spPr>
      </p:sp>
      <p:sp>
        <p:nvSpPr>
          <p:cNvPr id="19" name="Text 17"/>
          <p:cNvSpPr/>
          <p:nvPr/>
        </p:nvSpPr>
        <p:spPr>
          <a:xfrm>
            <a:off x="7543800" y="2258568"/>
            <a:ext cx="1874520" cy="228600"/>
          </a:xfrm>
          <a:prstGeom prst="rect">
            <a:avLst/>
          </a:prstGeom>
          <a:noFill/>
          <a:ln/>
        </p:spPr>
        <p:txBody>
          <a:bodyPr wrap="square" lIns="0" tIns="0" rIns="0" bIns="0" rtlCol="0" anchor="ctr"/>
          <a:lstStyle/>
          <a:p>
            <a:pPr indent="0" marL="0">
              <a:buNone/>
            </a:pPr>
            <a:r>
              <a:rPr lang="en-US" sz="1000" b="1" dirty="0">
                <a:solidFill>
                  <a:srgbClr val="444444"/>
                </a:solidFill>
                <a:latin typeface="Aptos" pitchFamily="34" charset="0"/>
                <a:ea typeface="Aptos" pitchFamily="34" charset="-122"/>
                <a:cs typeface="Aptos" pitchFamily="34" charset="-120"/>
              </a:rPr>
              <a:t>Hardclean R1-R2</a:t>
            </a:r>
            <a:endParaRPr lang="en-US" sz="1000" dirty="0"/>
          </a:p>
        </p:txBody>
      </p:sp>
      <p:sp>
        <p:nvSpPr>
          <p:cNvPr id="20" name="Text 18"/>
          <p:cNvSpPr/>
          <p:nvPr/>
        </p:nvSpPr>
        <p:spPr>
          <a:xfrm>
            <a:off x="7543800" y="2532888"/>
            <a:ext cx="1874520" cy="1536192"/>
          </a:xfrm>
          <a:prstGeom prst="rect">
            <a:avLst/>
          </a:prstGeom>
          <a:noFill/>
          <a:ln/>
        </p:spPr>
        <p:txBody>
          <a:bodyPr wrap="square" lIns="0" tIns="0" rIns="0" bIns="0" rtlCol="0" anchor="t">
            <a:normAutofit/>
          </a:bodyPr>
          <a:lstStyle/>
          <a:p>
            <a:pPr indent="0" marL="0">
              <a:buNone/>
            </a:pPr>
            <a:r>
              <a:rPr lang="en-US" sz="1100" dirty="0">
                <a:solidFill>
                  <a:srgbClr val="505050"/>
                </a:solidFill>
                <a:latin typeface="Microsoft YaHei" pitchFamily="34" charset="0"/>
                <a:ea typeface="Microsoft YaHei" pitchFamily="34" charset="-122"/>
                <a:cs typeface="Microsoft YaHei" pitchFamily="34" charset="-120"/>
              </a:rPr>
              <a:t>hardclean-r1 / hardclean-r2</a:t>
            </a:r>
            <a:endParaRPr lang="en-US" sz="1100" dirty="0"/>
          </a:p>
          <a:p>
            <a:pPr indent="0" marL="0">
              <a:buNone/>
            </a:pPr>
            <a:r>
              <a:rPr lang="en-US" sz="1100" dirty="0">
                <a:solidFill>
                  <a:srgbClr val="505050"/>
                </a:solidFill>
                <a:latin typeface="Microsoft YaHei" pitchFamily="34" charset="0"/>
                <a:ea typeface="Microsoft YaHei" pitchFamily="34" charset="-122"/>
                <a:cs typeface="Microsoft YaHei" pitchFamily="34" charset="-120"/>
              </a:rPr>
              <a:t>mAP50 0.70776 / 0.70285</a:t>
            </a:r>
            <a:endParaRPr lang="en-US" sz="1100" dirty="0"/>
          </a:p>
        </p:txBody>
      </p:sp>
      <p:sp>
        <p:nvSpPr>
          <p:cNvPr id="21" name="Shape 19"/>
          <p:cNvSpPr/>
          <p:nvPr/>
        </p:nvSpPr>
        <p:spPr>
          <a:xfrm>
            <a:off x="9582912" y="3154680"/>
            <a:ext cx="320040" cy="0"/>
          </a:xfrm>
          <a:prstGeom prst="line">
            <a:avLst/>
          </a:prstGeom>
          <a:noFill/>
          <a:ln w="12700">
            <a:solidFill>
              <a:srgbClr val="D8D8D2"/>
            </a:solidFill>
            <a:prstDash val="solid"/>
            <a:headEnd type="none"/>
            <a:tailEnd type="triangle"/>
          </a:ln>
        </p:spPr>
      </p:sp>
      <p:sp>
        <p:nvSpPr>
          <p:cNvPr id="22" name="Shape 20"/>
          <p:cNvSpPr/>
          <p:nvPr/>
        </p:nvSpPr>
        <p:spPr>
          <a:xfrm>
            <a:off x="9646920" y="2148840"/>
            <a:ext cx="2148840" cy="2011680"/>
          </a:xfrm>
          <a:prstGeom prst="rect">
            <a:avLst/>
          </a:prstGeom>
          <a:solidFill>
            <a:srgbClr val="F2F2EE"/>
          </a:solidFill>
          <a:ln w="12700">
            <a:solidFill>
              <a:srgbClr val="D8D8D2"/>
            </a:solidFill>
            <a:prstDash val="solid"/>
          </a:ln>
        </p:spPr>
      </p:sp>
      <p:sp>
        <p:nvSpPr>
          <p:cNvPr id="23" name="Text 21"/>
          <p:cNvSpPr/>
          <p:nvPr/>
        </p:nvSpPr>
        <p:spPr>
          <a:xfrm>
            <a:off x="9784080" y="2258568"/>
            <a:ext cx="1874520" cy="228600"/>
          </a:xfrm>
          <a:prstGeom prst="rect">
            <a:avLst/>
          </a:prstGeom>
          <a:noFill/>
          <a:ln/>
        </p:spPr>
        <p:txBody>
          <a:bodyPr wrap="square" lIns="0" tIns="0" rIns="0" bIns="0" rtlCol="0" anchor="ctr"/>
          <a:lstStyle/>
          <a:p>
            <a:pPr indent="0" marL="0">
              <a:buNone/>
            </a:pPr>
            <a:r>
              <a:rPr lang="en-US" sz="1000" b="1" dirty="0">
                <a:solidFill>
                  <a:srgbClr val="444444"/>
                </a:solidFill>
                <a:latin typeface="Aptos" pitchFamily="34" charset="0"/>
                <a:ea typeface="Aptos" pitchFamily="34" charset="-122"/>
                <a:cs typeface="Aptos" pitchFamily="34" charset="-120"/>
              </a:rPr>
              <a:t>Hardclean R3</a:t>
            </a:r>
            <a:endParaRPr lang="en-US" sz="1000" dirty="0"/>
          </a:p>
        </p:txBody>
      </p:sp>
      <p:sp>
        <p:nvSpPr>
          <p:cNvPr id="24" name="Text 22"/>
          <p:cNvSpPr/>
          <p:nvPr/>
        </p:nvSpPr>
        <p:spPr>
          <a:xfrm>
            <a:off x="9784080" y="2532888"/>
            <a:ext cx="1874520" cy="1536192"/>
          </a:xfrm>
          <a:prstGeom prst="rect">
            <a:avLst/>
          </a:prstGeom>
          <a:noFill/>
          <a:ln/>
        </p:spPr>
        <p:txBody>
          <a:bodyPr wrap="square" lIns="0" tIns="0" rIns="0" bIns="0" rtlCol="0" anchor="t">
            <a:normAutofit/>
          </a:bodyPr>
          <a:lstStyle/>
          <a:p>
            <a:pPr indent="0" marL="0">
              <a:buNone/>
            </a:pPr>
            <a:r>
              <a:rPr lang="en-US" sz="1100" dirty="0">
                <a:solidFill>
                  <a:srgbClr val="505050"/>
                </a:solidFill>
                <a:latin typeface="Microsoft YaHei" pitchFamily="34" charset="0"/>
                <a:ea typeface="Microsoft YaHei" pitchFamily="34" charset="-122"/>
                <a:cs typeface="Microsoft YaHei" pitchFamily="34" charset="-120"/>
              </a:rPr>
              <a:t>hardclean-r3</a:t>
            </a:r>
            <a:endParaRPr lang="en-US" sz="1100" dirty="0"/>
          </a:p>
          <a:p>
            <a:pPr indent="0" marL="0">
              <a:buNone/>
            </a:pPr>
            <a:r>
              <a:rPr lang="en-US" sz="1100" dirty="0">
                <a:solidFill>
                  <a:srgbClr val="505050"/>
                </a:solidFill>
                <a:latin typeface="Microsoft YaHei" pitchFamily="34" charset="0"/>
                <a:ea typeface="Microsoft YaHei" pitchFamily="34" charset="-122"/>
                <a:cs typeface="Microsoft YaHei" pitchFamily="34" charset="-120"/>
              </a:rPr>
              <a:t>mAP50 0.68457</a:t>
            </a:r>
            <a:endParaRPr lang="en-US" sz="1100" dirty="0"/>
          </a:p>
        </p:txBody>
      </p:sp>
      <p:sp>
        <p:nvSpPr>
          <p:cNvPr id="25" name="Text 23"/>
          <p:cNvSpPr/>
          <p:nvPr/>
        </p:nvSpPr>
        <p:spPr>
          <a:xfrm>
            <a:off x="640080" y="6473952"/>
            <a:ext cx="10972800" cy="164592"/>
          </a:xfrm>
          <a:prstGeom prst="rect">
            <a:avLst/>
          </a:prstGeom>
          <a:noFill/>
          <a:ln/>
        </p:spPr>
        <p:txBody>
          <a:bodyPr wrap="square" lIns="0" tIns="0" rIns="0" bIns="0" rtlCol="0" anchor="ctr"/>
          <a:lstStyle/>
          <a:p>
            <a:pPr algn="r" indent="0" marL="0">
              <a:buNone/>
            </a:pPr>
            <a:r>
              <a:rPr lang="en-US" sz="800" dirty="0">
                <a:solidFill>
                  <a:srgbClr val="7A7A7A"/>
                </a:solidFill>
                <a:latin typeface="Aptos" pitchFamily="34" charset="0"/>
                <a:ea typeface="Aptos" pitchFamily="34" charset="-122"/>
                <a:cs typeface="Aptos" pitchFamily="34" charset="-120"/>
              </a:rPr>
              <a:t>全局最高训练目录：hqv2_windgood1x_towerclean8_yolo11s_640_ft1</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AF8"/>
        </a:solidFill>
      </p:bgPr>
    </p:bg>
    <p:spTree>
      <p:nvGrpSpPr>
        <p:cNvPr id="1" name=""/>
        <p:cNvGrpSpPr/>
        <p:nvPr/>
      </p:nvGrpSpPr>
      <p:grpSpPr>
        <a:xfrm>
          <a:off x="0" y="0"/>
          <a:ext cx="0" cy="0"/>
          <a:chOff x="0" y="0"/>
          <a:chExt cx="0" cy="0"/>
        </a:xfrm>
      </p:grpSpPr>
      <p:sp>
        <p:nvSpPr>
          <p:cNvPr id="2" name="Text 0"/>
          <p:cNvSpPr/>
          <p:nvPr/>
        </p:nvSpPr>
        <p:spPr>
          <a:xfrm>
            <a:off x="457200" y="182880"/>
            <a:ext cx="4937760" cy="182880"/>
          </a:xfrm>
          <a:prstGeom prst="rect">
            <a:avLst/>
          </a:prstGeom>
          <a:noFill/>
          <a:ln/>
        </p:spPr>
        <p:txBody>
          <a:bodyPr wrap="square" lIns="0" tIns="0" rIns="0" bIns="0" rtlCol="0" anchor="ctr"/>
          <a:lstStyle/>
          <a:p>
            <a:pPr indent="0" marL="0">
              <a:buNone/>
            </a:pPr>
            <a:r>
              <a:rPr lang="en-US" sz="900" dirty="0">
                <a:solidFill>
                  <a:srgbClr val="666666"/>
                </a:solidFill>
                <a:latin typeface="Aptos" pitchFamily="34" charset="0"/>
                <a:ea typeface="Aptos" pitchFamily="34" charset="-122"/>
                <a:cs typeface="Aptos" pitchFamily="34" charset="-120"/>
              </a:rPr>
              <a:t>YOLO ASSISTED DETECTION</a:t>
            </a:r>
            <a:endParaRPr lang="en-US" sz="900" dirty="0"/>
          </a:p>
        </p:txBody>
      </p:sp>
      <p:sp>
        <p:nvSpPr>
          <p:cNvPr id="3" name="Text 1"/>
          <p:cNvSpPr/>
          <p:nvPr/>
        </p:nvSpPr>
        <p:spPr>
          <a:xfrm>
            <a:off x="9875520" y="182880"/>
            <a:ext cx="1828800" cy="182880"/>
          </a:xfrm>
          <a:prstGeom prst="rect">
            <a:avLst/>
          </a:prstGeom>
          <a:noFill/>
          <a:ln/>
        </p:spPr>
        <p:txBody>
          <a:bodyPr wrap="square" lIns="0" tIns="0" rIns="0" bIns="0" rtlCol="0" anchor="ctr"/>
          <a:lstStyle/>
          <a:p>
            <a:pPr algn="r" indent="0" marL="0">
              <a:buNone/>
            </a:pPr>
            <a:r>
              <a:rPr lang="en-US" sz="900" dirty="0">
                <a:solidFill>
                  <a:srgbClr val="666666"/>
                </a:solidFill>
                <a:latin typeface="Aptos" pitchFamily="34" charset="0"/>
                <a:ea typeface="Aptos" pitchFamily="34" charset="-122"/>
                <a:cs typeface="Aptos" pitchFamily="34" charset="-120"/>
              </a:rPr>
              <a:t>07 / 10</a:t>
            </a:r>
            <a:endParaRPr lang="en-US" sz="900" dirty="0"/>
          </a:p>
        </p:txBody>
      </p:sp>
      <p:sp>
        <p:nvSpPr>
          <p:cNvPr id="4" name="Text 2"/>
          <p:cNvSpPr/>
          <p:nvPr/>
        </p:nvSpPr>
        <p:spPr>
          <a:xfrm>
            <a:off x="640080" y="640080"/>
            <a:ext cx="4389120" cy="228600"/>
          </a:xfrm>
          <a:prstGeom prst="rect">
            <a:avLst/>
          </a:prstGeom>
          <a:noFill/>
          <a:ln/>
        </p:spPr>
        <p:txBody>
          <a:bodyPr wrap="square" lIns="0" tIns="0" rIns="0" bIns="0" rtlCol="0" anchor="ctr"/>
          <a:lstStyle/>
          <a:p>
            <a:pPr indent="0" marL="0">
              <a:buNone/>
            </a:pPr>
            <a:r>
              <a:rPr lang="en-US" sz="1000" dirty="0">
                <a:solidFill>
                  <a:srgbClr val="666666"/>
                </a:solidFill>
                <a:latin typeface="Aptos" pitchFamily="34" charset="0"/>
                <a:ea typeface="Aptos" pitchFamily="34" charset="-122"/>
                <a:cs typeface="Aptos" pitchFamily="34" charset="-120"/>
              </a:rPr>
              <a:t>YOLOv11 TRAINING LOSS CURVE</a:t>
            </a:r>
            <a:endParaRPr lang="en-US" sz="1000" dirty="0"/>
          </a:p>
        </p:txBody>
      </p:sp>
      <p:sp>
        <p:nvSpPr>
          <p:cNvPr id="5" name="Text 3"/>
          <p:cNvSpPr/>
          <p:nvPr/>
        </p:nvSpPr>
        <p:spPr>
          <a:xfrm>
            <a:off x="640080" y="914400"/>
            <a:ext cx="6035040" cy="640080"/>
          </a:xfrm>
          <a:prstGeom prst="rect">
            <a:avLst/>
          </a:prstGeom>
          <a:noFill/>
          <a:ln/>
        </p:spPr>
        <p:txBody>
          <a:bodyPr wrap="square" lIns="0" tIns="0" rIns="0" bIns="0" rtlCol="0" anchor="ctr"/>
          <a:lstStyle/>
          <a:p>
            <a:pPr indent="0" marL="0">
              <a:buNone/>
            </a:pPr>
            <a:r>
              <a:rPr lang="en-US" sz="2400" dirty="0">
                <a:solidFill>
                  <a:srgbClr val="0A0A0A"/>
                </a:solidFill>
                <a:latin typeface="Microsoft YaHei" pitchFamily="34" charset="0"/>
                <a:ea typeface="Microsoft YaHei" pitchFamily="34" charset="-122"/>
                <a:cs typeface="Microsoft YaHei" pitchFamily="34" charset="-120"/>
              </a:rPr>
              <a:t>辅助检测训练损失曲线</a:t>
            </a:r>
            <a:endParaRPr lang="en-US" sz="2400" dirty="0"/>
          </a:p>
        </p:txBody>
      </p:sp>
      <p:pic>
        <p:nvPicPr>
          <p:cNvPr id="6" name="Image 0" descr="/Users/hrzt/code/vibe coding/codex/毕业设计/electric-ai-platform/ppt/1.YOLOv11辅助检测训练损失曲线.png">    </p:cNvPr>
          <p:cNvPicPr>
            <a:picLocks noChangeAspect="1"/>
          </p:cNvPicPr>
          <p:nvPr/>
        </p:nvPicPr>
        <p:blipFill>
          <a:blip r:embed="rId1"/>
          <a:srcRect l="0" r="0" t="0" b="0"/>
          <a:stretch/>
        </p:blipFill>
        <p:spPr>
          <a:xfrm>
            <a:off x="731520" y="1828800"/>
            <a:ext cx="7498080" cy="3474720"/>
          </a:xfrm>
          <a:prstGeom prst="rect">
            <a:avLst/>
          </a:prstGeom>
        </p:spPr>
      </p:pic>
      <p:sp>
        <p:nvSpPr>
          <p:cNvPr id="7" name="Text 4"/>
          <p:cNvSpPr/>
          <p:nvPr/>
        </p:nvSpPr>
        <p:spPr>
          <a:xfrm>
            <a:off x="731520" y="5358384"/>
            <a:ext cx="7498080" cy="182880"/>
          </a:xfrm>
          <a:prstGeom prst="rect">
            <a:avLst/>
          </a:prstGeom>
          <a:noFill/>
          <a:ln/>
        </p:spPr>
        <p:txBody>
          <a:bodyPr wrap="square" lIns="0" tIns="0" rIns="0" bIns="0" rtlCol="0" anchor="ctr"/>
          <a:lstStyle/>
          <a:p>
            <a:pPr indent="0" marL="0">
              <a:buNone/>
            </a:pPr>
            <a:r>
              <a:rPr lang="en-US" sz="1000" b="1" dirty="0">
                <a:solidFill>
                  <a:srgbClr val="0A0A0A"/>
                </a:solidFill>
                <a:latin typeface="Microsoft YaHei" pitchFamily="34" charset="0"/>
                <a:ea typeface="Microsoft YaHei" pitchFamily="34" charset="-122"/>
                <a:cs typeface="Microsoft YaHei" pitchFamily="34" charset="-120"/>
              </a:rPr>
              <a:t>YOLOv11 辅助检测训练损失曲线</a:t>
            </a:r>
            <a:endParaRPr lang="en-US" sz="1000" dirty="0"/>
          </a:p>
        </p:txBody>
      </p:sp>
      <p:sp>
        <p:nvSpPr>
          <p:cNvPr id="8" name="Text 5"/>
          <p:cNvSpPr/>
          <p:nvPr/>
        </p:nvSpPr>
        <p:spPr>
          <a:xfrm>
            <a:off x="731520" y="5522976"/>
            <a:ext cx="7498080" cy="201168"/>
          </a:xfrm>
          <a:prstGeom prst="rect">
            <a:avLst/>
          </a:prstGeom>
          <a:noFill/>
          <a:ln/>
        </p:spPr>
        <p:txBody>
          <a:bodyPr wrap="square" lIns="0" tIns="0" rIns="0" bIns="0" rtlCol="0" anchor="ctr"/>
          <a:lstStyle/>
          <a:p>
            <a:pPr indent="0" marL="0">
              <a:buNone/>
            </a:pPr>
            <a:r>
              <a:rPr lang="en-US" sz="850" dirty="0">
                <a:solidFill>
                  <a:srgbClr val="666666"/>
                </a:solidFill>
                <a:latin typeface="Microsoft YaHei" pitchFamily="34" charset="0"/>
                <a:ea typeface="Microsoft YaHei" pitchFamily="34" charset="-122"/>
                <a:cs typeface="Microsoft YaHei" pitchFamily="34" charset="-120"/>
              </a:rPr>
              <a:t>基于更新后的 result 全量 epoch 路径重绘</a:t>
            </a:r>
            <a:endParaRPr lang="en-US" sz="850" dirty="0"/>
          </a:p>
        </p:txBody>
      </p:sp>
      <p:sp>
        <p:nvSpPr>
          <p:cNvPr id="9" name="Shape 6"/>
          <p:cNvSpPr/>
          <p:nvPr/>
        </p:nvSpPr>
        <p:spPr>
          <a:xfrm>
            <a:off x="8549640" y="1874520"/>
            <a:ext cx="2743200" cy="1371600"/>
          </a:xfrm>
          <a:prstGeom prst="rect">
            <a:avLst/>
          </a:prstGeom>
          <a:solidFill>
            <a:srgbClr val="002FA7"/>
          </a:solidFill>
          <a:ln w="12700">
            <a:solidFill>
              <a:srgbClr val="002FA7"/>
            </a:solidFill>
            <a:prstDash val="solid"/>
          </a:ln>
        </p:spPr>
      </p:sp>
      <p:sp>
        <p:nvSpPr>
          <p:cNvPr id="10" name="Text 7"/>
          <p:cNvSpPr/>
          <p:nvPr/>
        </p:nvSpPr>
        <p:spPr>
          <a:xfrm>
            <a:off x="8686800" y="1984248"/>
            <a:ext cx="2468880" cy="228600"/>
          </a:xfrm>
          <a:prstGeom prst="rect">
            <a:avLst/>
          </a:prstGeom>
          <a:noFill/>
          <a:ln/>
        </p:spPr>
        <p:txBody>
          <a:bodyPr wrap="square" lIns="0" tIns="0" rIns="0" bIns="0" rtlCol="0" anchor="ctr"/>
          <a:lstStyle/>
          <a:p>
            <a:pPr indent="0" marL="0">
              <a:buNone/>
            </a:pPr>
            <a:r>
              <a:rPr lang="en-US" sz="1000" b="1" dirty="0">
                <a:solidFill>
                  <a:srgbClr val="FFFFFF"/>
                </a:solidFill>
                <a:latin typeface="Aptos" pitchFamily="34" charset="0"/>
                <a:ea typeface="Aptos" pitchFamily="34" charset="-122"/>
                <a:cs typeface="Aptos" pitchFamily="34" charset="-120"/>
              </a:rPr>
              <a:t>最佳 mAP50</a:t>
            </a:r>
            <a:endParaRPr lang="en-US" sz="1000" dirty="0"/>
          </a:p>
        </p:txBody>
      </p:sp>
      <p:sp>
        <p:nvSpPr>
          <p:cNvPr id="11" name="Text 8"/>
          <p:cNvSpPr/>
          <p:nvPr/>
        </p:nvSpPr>
        <p:spPr>
          <a:xfrm>
            <a:off x="8686800" y="2258568"/>
            <a:ext cx="2468880" cy="896112"/>
          </a:xfrm>
          <a:prstGeom prst="rect">
            <a:avLst/>
          </a:prstGeom>
          <a:noFill/>
          <a:ln/>
        </p:spPr>
        <p:txBody>
          <a:bodyPr wrap="square" lIns="0" tIns="0" rIns="0" bIns="0" rtlCol="0" anchor="t">
            <a:normAutofit/>
          </a:bodyPr>
          <a:lstStyle/>
          <a:p>
            <a:pPr indent="0" marL="0">
              <a:buNone/>
            </a:pPr>
            <a:r>
              <a:rPr lang="en-US" sz="1100" dirty="0">
                <a:solidFill>
                  <a:srgbClr val="FFFFFF"/>
                </a:solidFill>
                <a:latin typeface="Microsoft YaHei" pitchFamily="34" charset="0"/>
                <a:ea typeface="Microsoft YaHei" pitchFamily="34" charset="-122"/>
                <a:cs typeface="Microsoft YaHei" pitchFamily="34" charset="-120"/>
              </a:rPr>
              <a:t>0.71885</a:t>
            </a:r>
            <a:endParaRPr lang="en-US" sz="1100" dirty="0"/>
          </a:p>
          <a:p>
            <a:pPr indent="0" marL="0">
              <a:buNone/>
            </a:pPr>
            <a:r>
              <a:rPr lang="en-US" sz="1100" dirty="0">
                <a:solidFill>
                  <a:srgbClr val="FFFFFF"/>
                </a:solidFill>
                <a:latin typeface="Microsoft YaHei" pitchFamily="34" charset="0"/>
                <a:ea typeface="Microsoft YaHei" pitchFamily="34" charset="-122"/>
                <a:cs typeface="Microsoft YaHei" pitchFamily="34" charset="-120"/>
              </a:rPr>
              <a:t>来自 windgood1x-towerclean8 版本，是当前全局最高成绩。</a:t>
            </a:r>
            <a:endParaRPr lang="en-US" sz="1100" dirty="0"/>
          </a:p>
        </p:txBody>
      </p:sp>
      <p:sp>
        <p:nvSpPr>
          <p:cNvPr id="12" name="Shape 9"/>
          <p:cNvSpPr/>
          <p:nvPr/>
        </p:nvSpPr>
        <p:spPr>
          <a:xfrm>
            <a:off x="8549640" y="3429000"/>
            <a:ext cx="2743200" cy="1097280"/>
          </a:xfrm>
          <a:prstGeom prst="rect">
            <a:avLst/>
          </a:prstGeom>
          <a:solidFill>
            <a:srgbClr val="F2F2EE"/>
          </a:solidFill>
          <a:ln w="12700">
            <a:solidFill>
              <a:srgbClr val="D8D8D2"/>
            </a:solidFill>
            <a:prstDash val="solid"/>
          </a:ln>
        </p:spPr>
      </p:sp>
      <p:sp>
        <p:nvSpPr>
          <p:cNvPr id="13" name="Text 10"/>
          <p:cNvSpPr/>
          <p:nvPr/>
        </p:nvSpPr>
        <p:spPr>
          <a:xfrm>
            <a:off x="8686800" y="3538728"/>
            <a:ext cx="2468880" cy="228600"/>
          </a:xfrm>
          <a:prstGeom prst="rect">
            <a:avLst/>
          </a:prstGeom>
          <a:noFill/>
          <a:ln/>
        </p:spPr>
        <p:txBody>
          <a:bodyPr wrap="square" lIns="0" tIns="0" rIns="0" bIns="0" rtlCol="0" anchor="ctr"/>
          <a:lstStyle/>
          <a:p>
            <a:pPr indent="0" marL="0">
              <a:buNone/>
            </a:pPr>
            <a:r>
              <a:rPr lang="en-US" sz="1000" b="1" dirty="0">
                <a:solidFill>
                  <a:srgbClr val="444444"/>
                </a:solidFill>
                <a:latin typeface="Aptos" pitchFamily="34" charset="0"/>
                <a:ea typeface="Aptos" pitchFamily="34" charset="-122"/>
                <a:cs typeface="Aptos" pitchFamily="34" charset="-120"/>
              </a:rPr>
              <a:t>最佳 mAP50-95</a:t>
            </a:r>
            <a:endParaRPr lang="en-US" sz="1000" dirty="0"/>
          </a:p>
        </p:txBody>
      </p:sp>
      <p:sp>
        <p:nvSpPr>
          <p:cNvPr id="14" name="Text 11"/>
          <p:cNvSpPr/>
          <p:nvPr/>
        </p:nvSpPr>
        <p:spPr>
          <a:xfrm>
            <a:off x="8686800" y="3813048"/>
            <a:ext cx="2468880" cy="621792"/>
          </a:xfrm>
          <a:prstGeom prst="rect">
            <a:avLst/>
          </a:prstGeom>
          <a:noFill/>
          <a:ln/>
        </p:spPr>
        <p:txBody>
          <a:bodyPr wrap="square" lIns="0" tIns="0" rIns="0" bIns="0" rtlCol="0" anchor="t">
            <a:normAutofit/>
          </a:bodyPr>
          <a:lstStyle/>
          <a:p>
            <a:pPr indent="0" marL="0">
              <a:buNone/>
            </a:pPr>
            <a:r>
              <a:rPr lang="en-US" sz="1100" dirty="0">
                <a:solidFill>
                  <a:srgbClr val="505050"/>
                </a:solidFill>
                <a:latin typeface="Microsoft YaHei" pitchFamily="34" charset="0"/>
                <a:ea typeface="Microsoft YaHei" pitchFamily="34" charset="-122"/>
                <a:cs typeface="Microsoft YaHei" pitchFamily="34" charset="-120"/>
              </a:rPr>
              <a:t>0.36486</a:t>
            </a:r>
            <a:endParaRPr lang="en-US" sz="1100" dirty="0"/>
          </a:p>
          <a:p>
            <a:pPr indent="0" marL="0">
              <a:buNone/>
            </a:pPr>
            <a:r>
              <a:rPr lang="en-US" sz="1100" dirty="0">
                <a:solidFill>
                  <a:srgbClr val="505050"/>
                </a:solidFill>
                <a:latin typeface="Microsoft YaHei" pitchFamily="34" charset="0"/>
                <a:ea typeface="Microsoft YaHei" pitchFamily="34" charset="-122"/>
                <a:cs typeface="Microsoft YaHei" pitchFamily="34" charset="-120"/>
              </a:rPr>
              <a:t>说明高 IoU 区间仍有提升空间。</a:t>
            </a:r>
            <a:endParaRPr lang="en-US" sz="1100" dirty="0"/>
          </a:p>
        </p:txBody>
      </p:sp>
      <p:sp>
        <p:nvSpPr>
          <p:cNvPr id="15" name="Shape 12"/>
          <p:cNvSpPr/>
          <p:nvPr/>
        </p:nvSpPr>
        <p:spPr>
          <a:xfrm>
            <a:off x="8549640" y="4681728"/>
            <a:ext cx="2743200" cy="1188720"/>
          </a:xfrm>
          <a:prstGeom prst="rect">
            <a:avLst/>
          </a:prstGeom>
          <a:solidFill>
            <a:srgbClr val="F2F2EE"/>
          </a:solidFill>
          <a:ln w="12700">
            <a:solidFill>
              <a:srgbClr val="D8D8D2"/>
            </a:solidFill>
            <a:prstDash val="solid"/>
          </a:ln>
        </p:spPr>
      </p:sp>
      <p:sp>
        <p:nvSpPr>
          <p:cNvPr id="16" name="Text 13"/>
          <p:cNvSpPr/>
          <p:nvPr/>
        </p:nvSpPr>
        <p:spPr>
          <a:xfrm>
            <a:off x="8686800" y="4791456"/>
            <a:ext cx="2468880" cy="228600"/>
          </a:xfrm>
          <a:prstGeom prst="rect">
            <a:avLst/>
          </a:prstGeom>
          <a:noFill/>
          <a:ln/>
        </p:spPr>
        <p:txBody>
          <a:bodyPr wrap="square" lIns="0" tIns="0" rIns="0" bIns="0" rtlCol="0" anchor="ctr"/>
          <a:lstStyle/>
          <a:p>
            <a:pPr indent="0" marL="0">
              <a:buNone/>
            </a:pPr>
            <a:r>
              <a:rPr lang="en-US" sz="1000" b="1" dirty="0">
                <a:solidFill>
                  <a:srgbClr val="444444"/>
                </a:solidFill>
                <a:latin typeface="Aptos" pitchFamily="34" charset="0"/>
                <a:ea typeface="Aptos" pitchFamily="34" charset="-122"/>
                <a:cs typeface="Aptos" pitchFamily="34" charset="-120"/>
              </a:rPr>
              <a:t>实验意义</a:t>
            </a:r>
            <a:endParaRPr lang="en-US" sz="1000" dirty="0"/>
          </a:p>
        </p:txBody>
      </p:sp>
      <p:sp>
        <p:nvSpPr>
          <p:cNvPr id="17" name="Text 14"/>
          <p:cNvSpPr/>
          <p:nvPr/>
        </p:nvSpPr>
        <p:spPr>
          <a:xfrm>
            <a:off x="8686800" y="5065776"/>
            <a:ext cx="2468880" cy="713232"/>
          </a:xfrm>
          <a:prstGeom prst="rect">
            <a:avLst/>
          </a:prstGeom>
          <a:noFill/>
          <a:ln/>
        </p:spPr>
        <p:txBody>
          <a:bodyPr wrap="square" lIns="0" tIns="0" rIns="0" bIns="0" rtlCol="0" anchor="t">
            <a:normAutofit/>
          </a:bodyPr>
          <a:lstStyle/>
          <a:p>
            <a:pPr indent="0" marL="0">
              <a:buNone/>
            </a:pPr>
            <a:r>
              <a:rPr lang="en-US" sz="1100" dirty="0">
                <a:solidFill>
                  <a:srgbClr val="505050"/>
                </a:solidFill>
                <a:latin typeface="Microsoft YaHei" pitchFamily="34" charset="0"/>
                <a:ea typeface="Microsoft YaHei" pitchFamily="34" charset="-122"/>
                <a:cs typeface="Microsoft YaHei" pitchFamily="34" charset="-120"/>
              </a:rPr>
              <a:t>检测训练结果辅助验证生成图像中的行业对象可识别性与结构约束能力。</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AF8"/>
        </a:solidFill>
      </p:bgPr>
    </p:bg>
    <p:spTree>
      <p:nvGrpSpPr>
        <p:cNvPr id="1" name=""/>
        <p:cNvGrpSpPr/>
        <p:nvPr/>
      </p:nvGrpSpPr>
      <p:grpSpPr>
        <a:xfrm>
          <a:off x="0" y="0"/>
          <a:ext cx="0" cy="0"/>
          <a:chOff x="0" y="0"/>
          <a:chExt cx="0" cy="0"/>
        </a:xfrm>
      </p:grpSpPr>
      <p:sp>
        <p:nvSpPr>
          <p:cNvPr id="2" name="Text 0"/>
          <p:cNvSpPr/>
          <p:nvPr/>
        </p:nvSpPr>
        <p:spPr>
          <a:xfrm>
            <a:off x="457200" y="182880"/>
            <a:ext cx="4937760" cy="182880"/>
          </a:xfrm>
          <a:prstGeom prst="rect">
            <a:avLst/>
          </a:prstGeom>
          <a:noFill/>
          <a:ln/>
        </p:spPr>
        <p:txBody>
          <a:bodyPr wrap="square" lIns="0" tIns="0" rIns="0" bIns="0" rtlCol="0" anchor="ctr"/>
          <a:lstStyle/>
          <a:p>
            <a:pPr indent="0" marL="0">
              <a:buNone/>
            </a:pPr>
            <a:r>
              <a:rPr lang="en-US" sz="900" dirty="0">
                <a:solidFill>
                  <a:srgbClr val="666666"/>
                </a:solidFill>
                <a:latin typeface="Aptos" pitchFamily="34" charset="0"/>
                <a:ea typeface="Aptos" pitchFamily="34" charset="-122"/>
                <a:cs typeface="Aptos" pitchFamily="34" charset="-120"/>
              </a:rPr>
              <a:t>YOLO RESULT OVERVIEW</a:t>
            </a:r>
            <a:endParaRPr lang="en-US" sz="900" dirty="0"/>
          </a:p>
        </p:txBody>
      </p:sp>
      <p:sp>
        <p:nvSpPr>
          <p:cNvPr id="3" name="Text 1"/>
          <p:cNvSpPr/>
          <p:nvPr/>
        </p:nvSpPr>
        <p:spPr>
          <a:xfrm>
            <a:off x="9875520" y="182880"/>
            <a:ext cx="1828800" cy="182880"/>
          </a:xfrm>
          <a:prstGeom prst="rect">
            <a:avLst/>
          </a:prstGeom>
          <a:noFill/>
          <a:ln/>
        </p:spPr>
        <p:txBody>
          <a:bodyPr wrap="square" lIns="0" tIns="0" rIns="0" bIns="0" rtlCol="0" anchor="ctr"/>
          <a:lstStyle/>
          <a:p>
            <a:pPr algn="r" indent="0" marL="0">
              <a:buNone/>
            </a:pPr>
            <a:r>
              <a:rPr lang="en-US" sz="900" dirty="0">
                <a:solidFill>
                  <a:srgbClr val="666666"/>
                </a:solidFill>
                <a:latin typeface="Aptos" pitchFamily="34" charset="0"/>
                <a:ea typeface="Aptos" pitchFamily="34" charset="-122"/>
                <a:cs typeface="Aptos" pitchFamily="34" charset="-120"/>
              </a:rPr>
              <a:t>08 / 10</a:t>
            </a:r>
            <a:endParaRPr lang="en-US" sz="900" dirty="0"/>
          </a:p>
        </p:txBody>
      </p:sp>
      <p:sp>
        <p:nvSpPr>
          <p:cNvPr id="4" name="Text 2"/>
          <p:cNvSpPr/>
          <p:nvPr/>
        </p:nvSpPr>
        <p:spPr>
          <a:xfrm>
            <a:off x="640080" y="640080"/>
            <a:ext cx="4389120" cy="228600"/>
          </a:xfrm>
          <a:prstGeom prst="rect">
            <a:avLst/>
          </a:prstGeom>
          <a:noFill/>
          <a:ln/>
        </p:spPr>
        <p:txBody>
          <a:bodyPr wrap="square" lIns="0" tIns="0" rIns="0" bIns="0" rtlCol="0" anchor="ctr"/>
          <a:lstStyle/>
          <a:p>
            <a:pPr indent="0" marL="0">
              <a:buNone/>
            </a:pPr>
            <a:r>
              <a:rPr lang="en-US" sz="1000" dirty="0">
                <a:solidFill>
                  <a:srgbClr val="666666"/>
                </a:solidFill>
                <a:latin typeface="Aptos" pitchFamily="34" charset="0"/>
                <a:ea typeface="Aptos" pitchFamily="34" charset="-122"/>
                <a:cs typeface="Aptos" pitchFamily="34" charset="-120"/>
              </a:rPr>
              <a:t>ALL_RESULTS_SUMMARY.CSV</a:t>
            </a:r>
            <a:endParaRPr lang="en-US" sz="1000" dirty="0"/>
          </a:p>
        </p:txBody>
      </p:sp>
      <p:sp>
        <p:nvSpPr>
          <p:cNvPr id="5" name="Text 3"/>
          <p:cNvSpPr/>
          <p:nvPr/>
        </p:nvSpPr>
        <p:spPr>
          <a:xfrm>
            <a:off x="640080" y="914400"/>
            <a:ext cx="6035040" cy="640080"/>
          </a:xfrm>
          <a:prstGeom prst="rect">
            <a:avLst/>
          </a:prstGeom>
          <a:noFill/>
          <a:ln/>
        </p:spPr>
        <p:txBody>
          <a:bodyPr wrap="square" lIns="0" tIns="0" rIns="0" bIns="0" rtlCol="0" anchor="ctr"/>
          <a:lstStyle/>
          <a:p>
            <a:pPr indent="0" marL="0">
              <a:buNone/>
            </a:pPr>
            <a:r>
              <a:rPr lang="en-US" sz="2400" dirty="0">
                <a:solidFill>
                  <a:srgbClr val="0A0A0A"/>
                </a:solidFill>
                <a:latin typeface="Microsoft YaHei" pitchFamily="34" charset="0"/>
                <a:ea typeface="Microsoft YaHei" pitchFamily="34" charset="-122"/>
                <a:cs typeface="Microsoft YaHei" pitchFamily="34" charset="-120"/>
              </a:rPr>
              <a:t>按 CSV 汇总的指标与版本对比</a:t>
            </a:r>
            <a:endParaRPr lang="en-US" sz="2400" dirty="0"/>
          </a:p>
        </p:txBody>
      </p:sp>
      <p:pic>
        <p:nvPicPr>
          <p:cNvPr id="6" name="Image 0" descr="/Users/hrzt/code/vibe coding/codex/毕业设计/electric-ai-platform/ppt/2.YOLOv11辅助检测指标图.png">    </p:cNvPr>
          <p:cNvPicPr>
            <a:picLocks noChangeAspect="1"/>
          </p:cNvPicPr>
          <p:nvPr/>
        </p:nvPicPr>
        <p:blipFill>
          <a:blip r:embed="rId1"/>
          <a:srcRect l="0" r="0" t="0" b="0"/>
          <a:stretch/>
        </p:blipFill>
        <p:spPr>
          <a:xfrm>
            <a:off x="685800" y="1828800"/>
            <a:ext cx="2743200" cy="1600200"/>
          </a:xfrm>
          <a:prstGeom prst="rect">
            <a:avLst/>
          </a:prstGeom>
        </p:spPr>
      </p:pic>
      <p:sp>
        <p:nvSpPr>
          <p:cNvPr id="7" name="Text 4"/>
          <p:cNvSpPr/>
          <p:nvPr/>
        </p:nvSpPr>
        <p:spPr>
          <a:xfrm>
            <a:off x="685800" y="3483864"/>
            <a:ext cx="2743200" cy="182880"/>
          </a:xfrm>
          <a:prstGeom prst="rect">
            <a:avLst/>
          </a:prstGeom>
          <a:noFill/>
          <a:ln/>
        </p:spPr>
        <p:txBody>
          <a:bodyPr wrap="square" lIns="0" tIns="0" rIns="0" bIns="0" rtlCol="0" anchor="ctr"/>
          <a:lstStyle/>
          <a:p>
            <a:pPr indent="0" marL="0">
              <a:buNone/>
            </a:pPr>
            <a:r>
              <a:rPr lang="en-US" sz="1000" b="1" dirty="0">
                <a:solidFill>
                  <a:srgbClr val="0A0A0A"/>
                </a:solidFill>
                <a:latin typeface="Microsoft YaHei" pitchFamily="34" charset="0"/>
                <a:ea typeface="Microsoft YaHei" pitchFamily="34" charset="-122"/>
                <a:cs typeface="Microsoft YaHei" pitchFamily="34" charset="-120"/>
              </a:rPr>
              <a:t>指标图</a:t>
            </a:r>
            <a:endParaRPr lang="en-US" sz="1000" dirty="0"/>
          </a:p>
        </p:txBody>
      </p:sp>
      <p:sp>
        <p:nvSpPr>
          <p:cNvPr id="8" name="Text 5"/>
          <p:cNvSpPr/>
          <p:nvPr/>
        </p:nvSpPr>
        <p:spPr>
          <a:xfrm>
            <a:off x="685800" y="3648456"/>
            <a:ext cx="2743200" cy="201168"/>
          </a:xfrm>
          <a:prstGeom prst="rect">
            <a:avLst/>
          </a:prstGeom>
          <a:noFill/>
          <a:ln/>
        </p:spPr>
        <p:txBody>
          <a:bodyPr wrap="square" lIns="0" tIns="0" rIns="0" bIns="0" rtlCol="0" anchor="ctr"/>
          <a:lstStyle/>
          <a:p>
            <a:pPr indent="0" marL="0">
              <a:buNone/>
            </a:pPr>
            <a:r>
              <a:rPr lang="en-US" sz="850" dirty="0">
                <a:solidFill>
                  <a:srgbClr val="666666"/>
                </a:solidFill>
                <a:latin typeface="Microsoft YaHei" pitchFamily="34" charset="0"/>
                <a:ea typeface="Microsoft YaHei" pitchFamily="34" charset="-122"/>
                <a:cs typeface="Microsoft YaHei" pitchFamily="34" charset="-120"/>
              </a:rPr>
              <a:t>Precision / Recall / mAP 收敛表现</a:t>
            </a:r>
            <a:endParaRPr lang="en-US" sz="850" dirty="0"/>
          </a:p>
        </p:txBody>
      </p:sp>
      <p:pic>
        <p:nvPicPr>
          <p:cNvPr id="9" name="Image 1" descr="/Users/hrzt/code/vibe coding/codex/毕业设计/electric-ai-platform/ppt/3.YOLOv11辅助检测数据清洗与结果总览图.png">    </p:cNvPr>
          <p:cNvPicPr>
            <a:picLocks noChangeAspect="1"/>
          </p:cNvPicPr>
          <p:nvPr/>
        </p:nvPicPr>
        <p:blipFill>
          <a:blip r:embed="rId2"/>
          <a:srcRect l="0" r="0" t="0" b="0"/>
          <a:stretch/>
        </p:blipFill>
        <p:spPr>
          <a:xfrm>
            <a:off x="3611880" y="1828800"/>
            <a:ext cx="2743200" cy="1600200"/>
          </a:xfrm>
          <a:prstGeom prst="rect">
            <a:avLst/>
          </a:prstGeom>
        </p:spPr>
      </p:pic>
      <p:sp>
        <p:nvSpPr>
          <p:cNvPr id="10" name="Text 6"/>
          <p:cNvSpPr/>
          <p:nvPr/>
        </p:nvSpPr>
        <p:spPr>
          <a:xfrm>
            <a:off x="3611880" y="3483864"/>
            <a:ext cx="2743200" cy="182880"/>
          </a:xfrm>
          <a:prstGeom prst="rect">
            <a:avLst/>
          </a:prstGeom>
          <a:noFill/>
          <a:ln/>
        </p:spPr>
        <p:txBody>
          <a:bodyPr wrap="square" lIns="0" tIns="0" rIns="0" bIns="0" rtlCol="0" anchor="ctr"/>
          <a:lstStyle/>
          <a:p>
            <a:pPr indent="0" marL="0">
              <a:buNone/>
            </a:pPr>
            <a:r>
              <a:rPr lang="en-US" sz="1000" b="1" dirty="0">
                <a:solidFill>
                  <a:srgbClr val="0A0A0A"/>
                </a:solidFill>
                <a:latin typeface="Microsoft YaHei" pitchFamily="34" charset="0"/>
                <a:ea typeface="Microsoft YaHei" pitchFamily="34" charset="-122"/>
                <a:cs typeface="Microsoft YaHei" pitchFamily="34" charset="-120"/>
              </a:rPr>
              <a:t>清洗与结果总览</a:t>
            </a:r>
            <a:endParaRPr lang="en-US" sz="1000" dirty="0"/>
          </a:p>
        </p:txBody>
      </p:sp>
      <p:sp>
        <p:nvSpPr>
          <p:cNvPr id="11" name="Text 7"/>
          <p:cNvSpPr/>
          <p:nvPr/>
        </p:nvSpPr>
        <p:spPr>
          <a:xfrm>
            <a:off x="3611880" y="3648456"/>
            <a:ext cx="2743200" cy="201168"/>
          </a:xfrm>
          <a:prstGeom prst="rect">
            <a:avLst/>
          </a:prstGeom>
          <a:noFill/>
          <a:ln/>
        </p:spPr>
        <p:txBody>
          <a:bodyPr wrap="square" lIns="0" tIns="0" rIns="0" bIns="0" rtlCol="0" anchor="ctr"/>
          <a:lstStyle/>
          <a:p>
            <a:pPr indent="0" marL="0">
              <a:buNone/>
            </a:pPr>
            <a:r>
              <a:rPr lang="en-US" sz="850" dirty="0">
                <a:solidFill>
                  <a:srgbClr val="666666"/>
                </a:solidFill>
                <a:latin typeface="Microsoft YaHei" pitchFamily="34" charset="0"/>
                <a:ea typeface="Microsoft YaHei" pitchFamily="34" charset="-122"/>
                <a:cs typeface="Microsoft YaHei" pitchFamily="34" charset="-120"/>
              </a:rPr>
              <a:t>版本演进与训练结果关联</a:t>
            </a:r>
            <a:endParaRPr lang="en-US" sz="850" dirty="0"/>
          </a:p>
        </p:txBody>
      </p:sp>
      <p:pic>
        <p:nvPicPr>
          <p:cNvPr id="12" name="Image 2" descr="/Users/hrzt/code/vibe coding/codex/毕业设计/electric-ai-platform/ppt/4.基于all_results_summary的全局训练排名图.png">    </p:cNvPr>
          <p:cNvPicPr>
            <a:picLocks noChangeAspect="1"/>
          </p:cNvPicPr>
          <p:nvPr/>
        </p:nvPicPr>
        <p:blipFill>
          <a:blip r:embed="rId3"/>
          <a:srcRect l="0" r="0" t="0" b="0"/>
          <a:stretch/>
        </p:blipFill>
        <p:spPr>
          <a:xfrm>
            <a:off x="6537960" y="1828800"/>
            <a:ext cx="2331720" cy="1600200"/>
          </a:xfrm>
          <a:prstGeom prst="rect">
            <a:avLst/>
          </a:prstGeom>
        </p:spPr>
      </p:pic>
      <p:sp>
        <p:nvSpPr>
          <p:cNvPr id="13" name="Text 8"/>
          <p:cNvSpPr/>
          <p:nvPr/>
        </p:nvSpPr>
        <p:spPr>
          <a:xfrm>
            <a:off x="6537960" y="3483864"/>
            <a:ext cx="2331720" cy="182880"/>
          </a:xfrm>
          <a:prstGeom prst="rect">
            <a:avLst/>
          </a:prstGeom>
          <a:noFill/>
          <a:ln/>
        </p:spPr>
        <p:txBody>
          <a:bodyPr wrap="square" lIns="0" tIns="0" rIns="0" bIns="0" rtlCol="0" anchor="ctr"/>
          <a:lstStyle/>
          <a:p>
            <a:pPr indent="0" marL="0">
              <a:buNone/>
            </a:pPr>
            <a:r>
              <a:rPr lang="en-US" sz="1000" b="1" dirty="0">
                <a:solidFill>
                  <a:srgbClr val="0A0A0A"/>
                </a:solidFill>
                <a:latin typeface="Microsoft YaHei" pitchFamily="34" charset="0"/>
                <a:ea typeface="Microsoft YaHei" pitchFamily="34" charset="-122"/>
                <a:cs typeface="Microsoft YaHei" pitchFamily="34" charset="-120"/>
              </a:rPr>
              <a:t>全局训练排名</a:t>
            </a:r>
            <a:endParaRPr lang="en-US" sz="1000" dirty="0"/>
          </a:p>
        </p:txBody>
      </p:sp>
      <p:sp>
        <p:nvSpPr>
          <p:cNvPr id="14" name="Text 9"/>
          <p:cNvSpPr/>
          <p:nvPr/>
        </p:nvSpPr>
        <p:spPr>
          <a:xfrm>
            <a:off x="6537960" y="3648456"/>
            <a:ext cx="2331720" cy="201168"/>
          </a:xfrm>
          <a:prstGeom prst="rect">
            <a:avLst/>
          </a:prstGeom>
          <a:noFill/>
          <a:ln/>
        </p:spPr>
        <p:txBody>
          <a:bodyPr wrap="square" lIns="0" tIns="0" rIns="0" bIns="0" rtlCol="0" anchor="ctr"/>
          <a:lstStyle/>
          <a:p>
            <a:pPr indent="0" marL="0">
              <a:buNone/>
            </a:pPr>
            <a:r>
              <a:rPr lang="en-US" sz="850" dirty="0">
                <a:solidFill>
                  <a:srgbClr val="666666"/>
                </a:solidFill>
                <a:latin typeface="Microsoft YaHei" pitchFamily="34" charset="0"/>
                <a:ea typeface="Microsoft YaHei" pitchFamily="34" charset="-122"/>
                <a:cs typeface="Microsoft YaHei" pitchFamily="34" charset="-120"/>
              </a:rPr>
              <a:t>按 mAP50 排序</a:t>
            </a:r>
            <a:endParaRPr lang="en-US" sz="850" dirty="0"/>
          </a:p>
        </p:txBody>
      </p:sp>
      <p:pic>
        <p:nvPicPr>
          <p:cNvPr id="15" name="Image 3" descr="/Users/hrzt/code/vibe coding/codex/毕业设计/electric-ai-platform/ppt/5.基于all_results_summary的核心清洗版本对比图.png">    </p:cNvPr>
          <p:cNvPicPr>
            <a:picLocks noChangeAspect="1"/>
          </p:cNvPicPr>
          <p:nvPr/>
        </p:nvPicPr>
        <p:blipFill>
          <a:blip r:embed="rId4"/>
          <a:srcRect l="0" r="0" t="0" b="0"/>
          <a:stretch/>
        </p:blipFill>
        <p:spPr>
          <a:xfrm>
            <a:off x="9098280" y="1828800"/>
            <a:ext cx="2148840" cy="1600200"/>
          </a:xfrm>
          <a:prstGeom prst="rect">
            <a:avLst/>
          </a:prstGeom>
        </p:spPr>
      </p:pic>
      <p:sp>
        <p:nvSpPr>
          <p:cNvPr id="16" name="Text 10"/>
          <p:cNvSpPr/>
          <p:nvPr/>
        </p:nvSpPr>
        <p:spPr>
          <a:xfrm>
            <a:off x="9098280" y="3483864"/>
            <a:ext cx="2148840" cy="182880"/>
          </a:xfrm>
          <a:prstGeom prst="rect">
            <a:avLst/>
          </a:prstGeom>
          <a:noFill/>
          <a:ln/>
        </p:spPr>
        <p:txBody>
          <a:bodyPr wrap="square" lIns="0" tIns="0" rIns="0" bIns="0" rtlCol="0" anchor="ctr"/>
          <a:lstStyle/>
          <a:p>
            <a:pPr indent="0" marL="0">
              <a:buNone/>
            </a:pPr>
            <a:r>
              <a:rPr lang="en-US" sz="1000" b="1" dirty="0">
                <a:solidFill>
                  <a:srgbClr val="0A0A0A"/>
                </a:solidFill>
                <a:latin typeface="Microsoft YaHei" pitchFamily="34" charset="0"/>
                <a:ea typeface="Microsoft YaHei" pitchFamily="34" charset="-122"/>
                <a:cs typeface="Microsoft YaHei" pitchFamily="34" charset="-120"/>
              </a:rPr>
              <a:t>核心清洗版本对比</a:t>
            </a:r>
            <a:endParaRPr lang="en-US" sz="1000" dirty="0"/>
          </a:p>
        </p:txBody>
      </p:sp>
      <p:sp>
        <p:nvSpPr>
          <p:cNvPr id="17" name="Text 11"/>
          <p:cNvSpPr/>
          <p:nvPr/>
        </p:nvSpPr>
        <p:spPr>
          <a:xfrm>
            <a:off x="9098280" y="3648456"/>
            <a:ext cx="2148840" cy="201168"/>
          </a:xfrm>
          <a:prstGeom prst="rect">
            <a:avLst/>
          </a:prstGeom>
          <a:noFill/>
          <a:ln/>
        </p:spPr>
        <p:txBody>
          <a:bodyPr wrap="square" lIns="0" tIns="0" rIns="0" bIns="0" rtlCol="0" anchor="ctr"/>
          <a:lstStyle/>
          <a:p>
            <a:pPr indent="0" marL="0">
              <a:buNone/>
            </a:pPr>
            <a:r>
              <a:rPr lang="en-US" sz="850" dirty="0">
                <a:solidFill>
                  <a:srgbClr val="666666"/>
                </a:solidFill>
                <a:latin typeface="Microsoft YaHei" pitchFamily="34" charset="0"/>
                <a:ea typeface="Microsoft YaHei" pitchFamily="34" charset="-122"/>
                <a:cs typeface="Microsoft YaHei" pitchFamily="34" charset="-120"/>
              </a:rPr>
              <a:t>重点关注反复迭代的核心版本</a:t>
            </a:r>
            <a:endParaRPr lang="en-US" sz="850" dirty="0"/>
          </a:p>
        </p:txBody>
      </p:sp>
      <p:sp>
        <p:nvSpPr>
          <p:cNvPr id="18" name="Shape 12"/>
          <p:cNvSpPr/>
          <p:nvPr/>
        </p:nvSpPr>
        <p:spPr>
          <a:xfrm>
            <a:off x="731520" y="3977640"/>
            <a:ext cx="5212080" cy="1143000"/>
          </a:xfrm>
          <a:prstGeom prst="rect">
            <a:avLst/>
          </a:prstGeom>
          <a:solidFill>
            <a:srgbClr val="F2F2EE"/>
          </a:solidFill>
          <a:ln w="12700">
            <a:solidFill>
              <a:srgbClr val="D8D8D2"/>
            </a:solidFill>
            <a:prstDash val="solid"/>
          </a:ln>
        </p:spPr>
      </p:sp>
      <p:sp>
        <p:nvSpPr>
          <p:cNvPr id="19" name="Text 13"/>
          <p:cNvSpPr/>
          <p:nvPr/>
        </p:nvSpPr>
        <p:spPr>
          <a:xfrm>
            <a:off x="868680" y="4087368"/>
            <a:ext cx="4937760" cy="228600"/>
          </a:xfrm>
          <a:prstGeom prst="rect">
            <a:avLst/>
          </a:prstGeom>
          <a:noFill/>
          <a:ln/>
        </p:spPr>
        <p:txBody>
          <a:bodyPr wrap="square" lIns="0" tIns="0" rIns="0" bIns="0" rtlCol="0" anchor="ctr"/>
          <a:lstStyle/>
          <a:p>
            <a:pPr indent="0" marL="0">
              <a:buNone/>
            </a:pPr>
            <a:r>
              <a:rPr lang="en-US" sz="1000" b="1" dirty="0">
                <a:solidFill>
                  <a:srgbClr val="444444"/>
                </a:solidFill>
                <a:latin typeface="Aptos" pitchFamily="34" charset="0"/>
                <a:ea typeface="Aptos" pitchFamily="34" charset="-122"/>
                <a:cs typeface="Aptos" pitchFamily="34" charset="-120"/>
              </a:rPr>
              <a:t>关键结论</a:t>
            </a:r>
            <a:endParaRPr lang="en-US" sz="1000" dirty="0"/>
          </a:p>
        </p:txBody>
      </p:sp>
      <p:sp>
        <p:nvSpPr>
          <p:cNvPr id="20" name="Text 14"/>
          <p:cNvSpPr/>
          <p:nvPr/>
        </p:nvSpPr>
        <p:spPr>
          <a:xfrm>
            <a:off x="868680" y="4361688"/>
            <a:ext cx="4937760" cy="667512"/>
          </a:xfrm>
          <a:prstGeom prst="rect">
            <a:avLst/>
          </a:prstGeom>
          <a:noFill/>
          <a:ln/>
        </p:spPr>
        <p:txBody>
          <a:bodyPr wrap="square" lIns="0" tIns="0" rIns="0" bIns="0" rtlCol="0" anchor="t">
            <a:normAutofit/>
          </a:bodyPr>
          <a:lstStyle/>
          <a:p>
            <a:pPr indent="0" marL="0">
              <a:buNone/>
            </a:pPr>
            <a:r>
              <a:rPr lang="en-US" sz="1100" dirty="0">
                <a:solidFill>
                  <a:srgbClr val="505050"/>
                </a:solidFill>
                <a:latin typeface="Microsoft YaHei" pitchFamily="34" charset="0"/>
                <a:ea typeface="Microsoft YaHei" pitchFamily="34" charset="-122"/>
                <a:cs typeface="Microsoft YaHei" pitchFamily="34" charset="-120"/>
              </a:rPr>
              <a:t>windgood1x-towerclean8 达到当前最佳成绩；继续 hardclean 后数据更纯，但整体指标未继续突破。</a:t>
            </a:r>
            <a:endParaRPr lang="en-US" sz="1100" dirty="0"/>
          </a:p>
        </p:txBody>
      </p:sp>
      <p:sp>
        <p:nvSpPr>
          <p:cNvPr id="21" name="Shape 15"/>
          <p:cNvSpPr/>
          <p:nvPr/>
        </p:nvSpPr>
        <p:spPr>
          <a:xfrm>
            <a:off x="6172200" y="3977640"/>
            <a:ext cx="5074920" cy="1143000"/>
          </a:xfrm>
          <a:prstGeom prst="rect">
            <a:avLst/>
          </a:prstGeom>
          <a:solidFill>
            <a:srgbClr val="002FA7"/>
          </a:solidFill>
          <a:ln w="12700">
            <a:solidFill>
              <a:srgbClr val="002FA7"/>
            </a:solidFill>
            <a:prstDash val="solid"/>
          </a:ln>
        </p:spPr>
      </p:sp>
      <p:sp>
        <p:nvSpPr>
          <p:cNvPr id="22" name="Text 16"/>
          <p:cNvSpPr/>
          <p:nvPr/>
        </p:nvSpPr>
        <p:spPr>
          <a:xfrm>
            <a:off x="6309360" y="4087368"/>
            <a:ext cx="4800600" cy="228600"/>
          </a:xfrm>
          <a:prstGeom prst="rect">
            <a:avLst/>
          </a:prstGeom>
          <a:noFill/>
          <a:ln/>
        </p:spPr>
        <p:txBody>
          <a:bodyPr wrap="square" lIns="0" tIns="0" rIns="0" bIns="0" rtlCol="0" anchor="ctr"/>
          <a:lstStyle/>
          <a:p>
            <a:pPr indent="0" marL="0">
              <a:buNone/>
            </a:pPr>
            <a:r>
              <a:rPr lang="en-US" sz="1000" b="1" dirty="0">
                <a:solidFill>
                  <a:srgbClr val="FFFFFF"/>
                </a:solidFill>
                <a:latin typeface="Aptos" pitchFamily="34" charset="0"/>
                <a:ea typeface="Aptos" pitchFamily="34" charset="-122"/>
                <a:cs typeface="Aptos" pitchFamily="34" charset="-120"/>
              </a:rPr>
              <a:t>实验价值</a:t>
            </a:r>
            <a:endParaRPr lang="en-US" sz="1000" dirty="0"/>
          </a:p>
        </p:txBody>
      </p:sp>
      <p:sp>
        <p:nvSpPr>
          <p:cNvPr id="23" name="Text 17"/>
          <p:cNvSpPr/>
          <p:nvPr/>
        </p:nvSpPr>
        <p:spPr>
          <a:xfrm>
            <a:off x="6309360" y="4361688"/>
            <a:ext cx="4800600" cy="667512"/>
          </a:xfrm>
          <a:prstGeom prst="rect">
            <a:avLst/>
          </a:prstGeom>
          <a:noFill/>
          <a:ln/>
        </p:spPr>
        <p:txBody>
          <a:bodyPr wrap="square" lIns="0" tIns="0" rIns="0" bIns="0" rtlCol="0" anchor="t">
            <a:normAutofit/>
          </a:bodyPr>
          <a:lstStyle/>
          <a:p>
            <a:pPr indent="0" marL="0">
              <a:buNone/>
            </a:pPr>
            <a:r>
              <a:rPr lang="en-US" sz="1100" dirty="0">
                <a:solidFill>
                  <a:srgbClr val="FFFFFF"/>
                </a:solidFill>
                <a:latin typeface="Microsoft YaHei" pitchFamily="34" charset="0"/>
                <a:ea typeface="Microsoft YaHei" pitchFamily="34" charset="-122"/>
                <a:cs typeface="Microsoft YaHei" pitchFamily="34" charset="-120"/>
              </a:rPr>
              <a:t>YOLO 结果把“生成图像像不像电力场景”进一步量化为“关键对象能否被稳定识别”。</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AF8"/>
        </a:solidFill>
      </p:bgPr>
    </p:bg>
    <p:spTree>
      <p:nvGrpSpPr>
        <p:cNvPr id="1" name=""/>
        <p:cNvGrpSpPr/>
        <p:nvPr/>
      </p:nvGrpSpPr>
      <p:grpSpPr>
        <a:xfrm>
          <a:off x="0" y="0"/>
          <a:ext cx="0" cy="0"/>
          <a:chOff x="0" y="0"/>
          <a:chExt cx="0" cy="0"/>
        </a:xfrm>
      </p:grpSpPr>
      <p:sp>
        <p:nvSpPr>
          <p:cNvPr id="2" name="Text 0"/>
          <p:cNvSpPr/>
          <p:nvPr/>
        </p:nvSpPr>
        <p:spPr>
          <a:xfrm>
            <a:off x="457200" y="182880"/>
            <a:ext cx="4937760" cy="182880"/>
          </a:xfrm>
          <a:prstGeom prst="rect">
            <a:avLst/>
          </a:prstGeom>
          <a:noFill/>
          <a:ln/>
        </p:spPr>
        <p:txBody>
          <a:bodyPr wrap="square" lIns="0" tIns="0" rIns="0" bIns="0" rtlCol="0" anchor="ctr"/>
          <a:lstStyle/>
          <a:p>
            <a:pPr indent="0" marL="0">
              <a:buNone/>
            </a:pPr>
            <a:r>
              <a:rPr lang="en-US" sz="900" dirty="0">
                <a:solidFill>
                  <a:srgbClr val="666666"/>
                </a:solidFill>
                <a:latin typeface="Aptos" pitchFamily="34" charset="0"/>
                <a:ea typeface="Aptos" pitchFamily="34" charset="-122"/>
                <a:cs typeface="Aptos" pitchFamily="34" charset="-120"/>
              </a:rPr>
              <a:t>PLATFORM IMPLEMENTATION</a:t>
            </a:r>
            <a:endParaRPr lang="en-US" sz="900" dirty="0"/>
          </a:p>
        </p:txBody>
      </p:sp>
      <p:sp>
        <p:nvSpPr>
          <p:cNvPr id="3" name="Text 1"/>
          <p:cNvSpPr/>
          <p:nvPr/>
        </p:nvSpPr>
        <p:spPr>
          <a:xfrm>
            <a:off x="9875520" y="182880"/>
            <a:ext cx="1828800" cy="182880"/>
          </a:xfrm>
          <a:prstGeom prst="rect">
            <a:avLst/>
          </a:prstGeom>
          <a:noFill/>
          <a:ln/>
        </p:spPr>
        <p:txBody>
          <a:bodyPr wrap="square" lIns="0" tIns="0" rIns="0" bIns="0" rtlCol="0" anchor="ctr"/>
          <a:lstStyle/>
          <a:p>
            <a:pPr algn="r" indent="0" marL="0">
              <a:buNone/>
            </a:pPr>
            <a:r>
              <a:rPr lang="en-US" sz="900" dirty="0">
                <a:solidFill>
                  <a:srgbClr val="666666"/>
                </a:solidFill>
                <a:latin typeface="Aptos" pitchFamily="34" charset="0"/>
                <a:ea typeface="Aptos" pitchFamily="34" charset="-122"/>
                <a:cs typeface="Aptos" pitchFamily="34" charset="-120"/>
              </a:rPr>
              <a:t>09 / 10</a:t>
            </a:r>
            <a:endParaRPr lang="en-US" sz="900" dirty="0"/>
          </a:p>
        </p:txBody>
      </p:sp>
      <p:sp>
        <p:nvSpPr>
          <p:cNvPr id="4" name="Text 2"/>
          <p:cNvSpPr/>
          <p:nvPr/>
        </p:nvSpPr>
        <p:spPr>
          <a:xfrm>
            <a:off x="640080" y="640080"/>
            <a:ext cx="4389120" cy="228600"/>
          </a:xfrm>
          <a:prstGeom prst="rect">
            <a:avLst/>
          </a:prstGeom>
          <a:noFill/>
          <a:ln/>
        </p:spPr>
        <p:txBody>
          <a:bodyPr wrap="square" lIns="0" tIns="0" rIns="0" bIns="0" rtlCol="0" anchor="ctr"/>
          <a:lstStyle/>
          <a:p>
            <a:pPr indent="0" marL="0">
              <a:buNone/>
            </a:pPr>
            <a:r>
              <a:rPr lang="en-US" sz="1000" dirty="0">
                <a:solidFill>
                  <a:srgbClr val="666666"/>
                </a:solidFill>
                <a:latin typeface="Aptos" pitchFamily="34" charset="0"/>
                <a:ea typeface="Aptos" pitchFamily="34" charset="-122"/>
                <a:cs typeface="Aptos" pitchFamily="34" charset="-120"/>
              </a:rPr>
              <a:t>PLATFORM UI · BUSINESS LOOP</a:t>
            </a:r>
            <a:endParaRPr lang="en-US" sz="1000" dirty="0"/>
          </a:p>
        </p:txBody>
      </p:sp>
      <p:sp>
        <p:nvSpPr>
          <p:cNvPr id="5" name="Text 3"/>
          <p:cNvSpPr/>
          <p:nvPr/>
        </p:nvSpPr>
        <p:spPr>
          <a:xfrm>
            <a:off x="640080" y="914400"/>
            <a:ext cx="6035040" cy="640080"/>
          </a:xfrm>
          <a:prstGeom prst="rect">
            <a:avLst/>
          </a:prstGeom>
          <a:noFill/>
          <a:ln/>
        </p:spPr>
        <p:txBody>
          <a:bodyPr wrap="square" lIns="0" tIns="0" rIns="0" bIns="0" rtlCol="0" anchor="ctr"/>
          <a:lstStyle/>
          <a:p>
            <a:pPr indent="0" marL="0">
              <a:buNone/>
            </a:pPr>
            <a:r>
              <a:rPr lang="en-US" sz="2400" dirty="0">
                <a:solidFill>
                  <a:srgbClr val="0A0A0A"/>
                </a:solidFill>
                <a:latin typeface="Microsoft YaHei" pitchFamily="34" charset="0"/>
                <a:ea typeface="Microsoft YaHei" pitchFamily="34" charset="-122"/>
                <a:cs typeface="Microsoft YaHei" pitchFamily="34" charset="-120"/>
              </a:rPr>
              <a:t>平台核心页面实现与业务闭环</a:t>
            </a:r>
            <a:endParaRPr lang="en-US" sz="2400" dirty="0"/>
          </a:p>
        </p:txBody>
      </p:sp>
      <p:pic>
        <p:nvPicPr>
          <p:cNvPr id="6" name="Image 0" descr="/Users/hrzt/code/vibe coding/codex/毕业设计/electric-ai-platform/ppt/images/07-dashboard-view.png">    </p:cNvPr>
          <p:cNvPicPr>
            <a:picLocks noChangeAspect="1"/>
          </p:cNvPicPr>
          <p:nvPr/>
        </p:nvPicPr>
        <p:blipFill>
          <a:blip r:embed="rId1"/>
          <a:srcRect l="0" r="0" t="0" b="0"/>
          <a:stretch/>
        </p:blipFill>
        <p:spPr>
          <a:xfrm>
            <a:off x="685800" y="1828800"/>
            <a:ext cx="1920240" cy="1325880"/>
          </a:xfrm>
          <a:prstGeom prst="rect">
            <a:avLst/>
          </a:prstGeom>
        </p:spPr>
      </p:pic>
      <p:sp>
        <p:nvSpPr>
          <p:cNvPr id="7" name="Text 4"/>
          <p:cNvSpPr/>
          <p:nvPr/>
        </p:nvSpPr>
        <p:spPr>
          <a:xfrm>
            <a:off x="685800" y="3209544"/>
            <a:ext cx="1920240" cy="182880"/>
          </a:xfrm>
          <a:prstGeom prst="rect">
            <a:avLst/>
          </a:prstGeom>
          <a:noFill/>
          <a:ln/>
        </p:spPr>
        <p:txBody>
          <a:bodyPr wrap="square" lIns="0" tIns="0" rIns="0" bIns="0" rtlCol="0" anchor="ctr"/>
          <a:lstStyle/>
          <a:p>
            <a:pPr indent="0" marL="0">
              <a:buNone/>
            </a:pPr>
            <a:r>
              <a:rPr lang="en-US" sz="1000" b="1" dirty="0">
                <a:solidFill>
                  <a:srgbClr val="0A0A0A"/>
                </a:solidFill>
                <a:latin typeface="Microsoft YaHei" pitchFamily="34" charset="0"/>
                <a:ea typeface="Microsoft YaHei" pitchFamily="34" charset="-122"/>
                <a:cs typeface="Microsoft YaHei" pitchFamily="34" charset="-120"/>
              </a:rPr>
              <a:t>概览页</a:t>
            </a:r>
            <a:endParaRPr lang="en-US" sz="1000" dirty="0"/>
          </a:p>
        </p:txBody>
      </p:sp>
      <p:pic>
        <p:nvPicPr>
          <p:cNvPr id="8" name="Image 1" descr="/Users/hrzt/code/vibe coding/codex/毕业设计/electric-ai-platform/ppt/images/07-model-center-view.png">    </p:cNvPr>
          <p:cNvPicPr>
            <a:picLocks noChangeAspect="1"/>
          </p:cNvPicPr>
          <p:nvPr/>
        </p:nvPicPr>
        <p:blipFill>
          <a:blip r:embed="rId2"/>
          <a:srcRect l="0" r="0" t="0" b="0"/>
          <a:stretch/>
        </p:blipFill>
        <p:spPr>
          <a:xfrm>
            <a:off x="2971800" y="1828800"/>
            <a:ext cx="1920240" cy="1325880"/>
          </a:xfrm>
          <a:prstGeom prst="rect">
            <a:avLst/>
          </a:prstGeom>
        </p:spPr>
      </p:pic>
      <p:sp>
        <p:nvSpPr>
          <p:cNvPr id="9" name="Text 5"/>
          <p:cNvSpPr/>
          <p:nvPr/>
        </p:nvSpPr>
        <p:spPr>
          <a:xfrm>
            <a:off x="2971800" y="3209544"/>
            <a:ext cx="1920240" cy="182880"/>
          </a:xfrm>
          <a:prstGeom prst="rect">
            <a:avLst/>
          </a:prstGeom>
          <a:noFill/>
          <a:ln/>
        </p:spPr>
        <p:txBody>
          <a:bodyPr wrap="square" lIns="0" tIns="0" rIns="0" bIns="0" rtlCol="0" anchor="ctr"/>
          <a:lstStyle/>
          <a:p>
            <a:pPr indent="0" marL="0">
              <a:buNone/>
            </a:pPr>
            <a:r>
              <a:rPr lang="en-US" sz="1000" b="1" dirty="0">
                <a:solidFill>
                  <a:srgbClr val="0A0A0A"/>
                </a:solidFill>
                <a:latin typeface="Microsoft YaHei" pitchFamily="34" charset="0"/>
                <a:ea typeface="Microsoft YaHei" pitchFamily="34" charset="-122"/>
                <a:cs typeface="Microsoft YaHei" pitchFamily="34" charset="-120"/>
              </a:rPr>
              <a:t>模型中心</a:t>
            </a:r>
            <a:endParaRPr lang="en-US" sz="1000" dirty="0"/>
          </a:p>
        </p:txBody>
      </p:sp>
      <p:pic>
        <p:nvPicPr>
          <p:cNvPr id="10" name="Image 2" descr="/Users/hrzt/code/vibe coding/codex/毕业设计/electric-ai-platform/ppt/images/07-generate-view.png">    </p:cNvPr>
          <p:cNvPicPr>
            <a:picLocks noChangeAspect="1"/>
          </p:cNvPicPr>
          <p:nvPr/>
        </p:nvPicPr>
        <p:blipFill>
          <a:blip r:embed="rId3"/>
          <a:srcRect l="0" r="0" t="0" b="0"/>
          <a:stretch/>
        </p:blipFill>
        <p:spPr>
          <a:xfrm>
            <a:off x="5257800" y="1828800"/>
            <a:ext cx="1920240" cy="1325880"/>
          </a:xfrm>
          <a:prstGeom prst="rect">
            <a:avLst/>
          </a:prstGeom>
        </p:spPr>
      </p:pic>
      <p:sp>
        <p:nvSpPr>
          <p:cNvPr id="11" name="Text 6"/>
          <p:cNvSpPr/>
          <p:nvPr/>
        </p:nvSpPr>
        <p:spPr>
          <a:xfrm>
            <a:off x="5257800" y="3209544"/>
            <a:ext cx="1920240" cy="182880"/>
          </a:xfrm>
          <a:prstGeom prst="rect">
            <a:avLst/>
          </a:prstGeom>
          <a:noFill/>
          <a:ln/>
        </p:spPr>
        <p:txBody>
          <a:bodyPr wrap="square" lIns="0" tIns="0" rIns="0" bIns="0" rtlCol="0" anchor="ctr"/>
          <a:lstStyle/>
          <a:p>
            <a:pPr indent="0" marL="0">
              <a:buNone/>
            </a:pPr>
            <a:r>
              <a:rPr lang="en-US" sz="1000" b="1" dirty="0">
                <a:solidFill>
                  <a:srgbClr val="0A0A0A"/>
                </a:solidFill>
                <a:latin typeface="Microsoft YaHei" pitchFamily="34" charset="0"/>
                <a:ea typeface="Microsoft YaHei" pitchFamily="34" charset="-122"/>
                <a:cs typeface="Microsoft YaHei" pitchFamily="34" charset="-120"/>
              </a:rPr>
              <a:t>生成工作台</a:t>
            </a:r>
            <a:endParaRPr lang="en-US" sz="1000" dirty="0"/>
          </a:p>
        </p:txBody>
      </p:sp>
      <p:pic>
        <p:nvPicPr>
          <p:cNvPr id="12" name="Image 3" descr="/Users/hrzt/code/vibe coding/codex/毕业设计/electric-ai-platform/ppt/images/07-history-view.png">    </p:cNvPr>
          <p:cNvPicPr>
            <a:picLocks noChangeAspect="1"/>
          </p:cNvPicPr>
          <p:nvPr/>
        </p:nvPicPr>
        <p:blipFill>
          <a:blip r:embed="rId4"/>
          <a:srcRect l="0" r="0" t="0" b="0"/>
          <a:stretch/>
        </p:blipFill>
        <p:spPr>
          <a:xfrm>
            <a:off x="7543800" y="1828800"/>
            <a:ext cx="1920240" cy="1325880"/>
          </a:xfrm>
          <a:prstGeom prst="rect">
            <a:avLst/>
          </a:prstGeom>
        </p:spPr>
      </p:pic>
      <p:sp>
        <p:nvSpPr>
          <p:cNvPr id="13" name="Text 7"/>
          <p:cNvSpPr/>
          <p:nvPr/>
        </p:nvSpPr>
        <p:spPr>
          <a:xfrm>
            <a:off x="7543800" y="3209544"/>
            <a:ext cx="1920240" cy="182880"/>
          </a:xfrm>
          <a:prstGeom prst="rect">
            <a:avLst/>
          </a:prstGeom>
          <a:noFill/>
          <a:ln/>
        </p:spPr>
        <p:txBody>
          <a:bodyPr wrap="square" lIns="0" tIns="0" rIns="0" bIns="0" rtlCol="0" anchor="ctr"/>
          <a:lstStyle/>
          <a:p>
            <a:pPr indent="0" marL="0">
              <a:buNone/>
            </a:pPr>
            <a:r>
              <a:rPr lang="en-US" sz="1000" b="1" dirty="0">
                <a:solidFill>
                  <a:srgbClr val="0A0A0A"/>
                </a:solidFill>
                <a:latin typeface="Microsoft YaHei" pitchFamily="34" charset="0"/>
                <a:ea typeface="Microsoft YaHei" pitchFamily="34" charset="-122"/>
                <a:cs typeface="Microsoft YaHei" pitchFamily="34" charset="-120"/>
              </a:rPr>
              <a:t>历史中心</a:t>
            </a:r>
            <a:endParaRPr lang="en-US" sz="1000" dirty="0"/>
          </a:p>
        </p:txBody>
      </p:sp>
      <p:pic>
        <p:nvPicPr>
          <p:cNvPr id="14" name="Image 4" descr="/Users/hrzt/code/vibe coding/codex/毕业设计/electric-ai-platform/ppt/images/07-audit-view.png">    </p:cNvPr>
          <p:cNvPicPr>
            <a:picLocks noChangeAspect="1"/>
          </p:cNvPicPr>
          <p:nvPr/>
        </p:nvPicPr>
        <p:blipFill>
          <a:blip r:embed="rId5"/>
          <a:srcRect l="0" r="0" t="0" b="0"/>
          <a:stretch/>
        </p:blipFill>
        <p:spPr>
          <a:xfrm>
            <a:off x="9829800" y="1828800"/>
            <a:ext cx="1920240" cy="1325880"/>
          </a:xfrm>
          <a:prstGeom prst="rect">
            <a:avLst/>
          </a:prstGeom>
        </p:spPr>
      </p:pic>
      <p:sp>
        <p:nvSpPr>
          <p:cNvPr id="15" name="Text 8"/>
          <p:cNvSpPr/>
          <p:nvPr/>
        </p:nvSpPr>
        <p:spPr>
          <a:xfrm>
            <a:off x="9829800" y="3209544"/>
            <a:ext cx="1920240" cy="182880"/>
          </a:xfrm>
          <a:prstGeom prst="rect">
            <a:avLst/>
          </a:prstGeom>
          <a:noFill/>
          <a:ln/>
        </p:spPr>
        <p:txBody>
          <a:bodyPr wrap="square" lIns="0" tIns="0" rIns="0" bIns="0" rtlCol="0" anchor="ctr"/>
          <a:lstStyle/>
          <a:p>
            <a:pPr indent="0" marL="0">
              <a:buNone/>
            </a:pPr>
            <a:r>
              <a:rPr lang="en-US" sz="1000" b="1" dirty="0">
                <a:solidFill>
                  <a:srgbClr val="0A0A0A"/>
                </a:solidFill>
                <a:latin typeface="Microsoft YaHei" pitchFamily="34" charset="0"/>
                <a:ea typeface="Microsoft YaHei" pitchFamily="34" charset="-122"/>
                <a:cs typeface="Microsoft YaHei" pitchFamily="34" charset="-120"/>
              </a:rPr>
              <a:t>任务审计</a:t>
            </a:r>
            <a:endParaRPr lang="en-US" sz="1000" dirty="0"/>
          </a:p>
        </p:txBody>
      </p:sp>
      <p:sp>
        <p:nvSpPr>
          <p:cNvPr id="16" name="Shape 9"/>
          <p:cNvSpPr/>
          <p:nvPr/>
        </p:nvSpPr>
        <p:spPr>
          <a:xfrm>
            <a:off x="731520" y="4069080"/>
            <a:ext cx="10515600" cy="1234440"/>
          </a:xfrm>
          <a:prstGeom prst="rect">
            <a:avLst/>
          </a:prstGeom>
          <a:solidFill>
            <a:srgbClr val="F2F2EE"/>
          </a:solidFill>
          <a:ln w="12700">
            <a:solidFill>
              <a:srgbClr val="D8D8D2"/>
            </a:solidFill>
            <a:prstDash val="solid"/>
          </a:ln>
        </p:spPr>
      </p:sp>
      <p:sp>
        <p:nvSpPr>
          <p:cNvPr id="17" name="Text 10"/>
          <p:cNvSpPr/>
          <p:nvPr/>
        </p:nvSpPr>
        <p:spPr>
          <a:xfrm>
            <a:off x="868680" y="4178808"/>
            <a:ext cx="10241280" cy="228600"/>
          </a:xfrm>
          <a:prstGeom prst="rect">
            <a:avLst/>
          </a:prstGeom>
          <a:noFill/>
          <a:ln/>
        </p:spPr>
        <p:txBody>
          <a:bodyPr wrap="square" lIns="0" tIns="0" rIns="0" bIns="0" rtlCol="0" anchor="ctr"/>
          <a:lstStyle/>
          <a:p>
            <a:pPr indent="0" marL="0">
              <a:buNone/>
            </a:pPr>
            <a:r>
              <a:rPr lang="en-US" sz="1000" b="1" dirty="0">
                <a:solidFill>
                  <a:srgbClr val="444444"/>
                </a:solidFill>
                <a:latin typeface="Aptos" pitchFamily="34" charset="0"/>
                <a:ea typeface="Aptos" pitchFamily="34" charset="-122"/>
                <a:cs typeface="Aptos" pitchFamily="34" charset="-120"/>
              </a:rPr>
              <a:t>工程价值</a:t>
            </a:r>
            <a:endParaRPr lang="en-US" sz="1000" dirty="0"/>
          </a:p>
        </p:txBody>
      </p:sp>
      <p:sp>
        <p:nvSpPr>
          <p:cNvPr id="18" name="Text 11"/>
          <p:cNvSpPr/>
          <p:nvPr/>
        </p:nvSpPr>
        <p:spPr>
          <a:xfrm>
            <a:off x="868680" y="4453128"/>
            <a:ext cx="10241280" cy="758952"/>
          </a:xfrm>
          <a:prstGeom prst="rect">
            <a:avLst/>
          </a:prstGeom>
          <a:noFill/>
          <a:ln/>
        </p:spPr>
        <p:txBody>
          <a:bodyPr wrap="square" lIns="0" tIns="0" rIns="0" bIns="0" rtlCol="0" anchor="t">
            <a:normAutofit/>
          </a:bodyPr>
          <a:lstStyle/>
          <a:p>
            <a:pPr indent="0" marL="0">
              <a:buNone/>
            </a:pPr>
            <a:r>
              <a:rPr lang="en-US" sz="1100" dirty="0">
                <a:solidFill>
                  <a:srgbClr val="505050"/>
                </a:solidFill>
                <a:latin typeface="Microsoft YaHei" pitchFamily="34" charset="0"/>
                <a:ea typeface="Microsoft YaHei" pitchFamily="34" charset="-122"/>
                <a:cs typeface="Microsoft YaHei" pitchFamily="34" charset="-120"/>
              </a:rPr>
              <a:t>前端负责参数交互与结果展示，Go 服务完成治理与鉴权，Python 运行时专注 AI 推理，形成可部署、可追踪、可解释的平台体系。</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AF8"/>
        </a:solidFill>
      </p:bgPr>
    </p:bg>
    <p:spTree>
      <p:nvGrpSpPr>
        <p:cNvPr id="1" name=""/>
        <p:cNvGrpSpPr/>
        <p:nvPr/>
      </p:nvGrpSpPr>
      <p:grpSpPr>
        <a:xfrm>
          <a:off x="0" y="0"/>
          <a:ext cx="0" cy="0"/>
          <a:chOff x="0" y="0"/>
          <a:chExt cx="0" cy="0"/>
        </a:xfrm>
      </p:grpSpPr>
      <p:sp>
        <p:nvSpPr>
          <p:cNvPr id="2" name="Text 0"/>
          <p:cNvSpPr/>
          <p:nvPr/>
        </p:nvSpPr>
        <p:spPr>
          <a:xfrm>
            <a:off x="457200" y="182880"/>
            <a:ext cx="4937760" cy="182880"/>
          </a:xfrm>
          <a:prstGeom prst="rect">
            <a:avLst/>
          </a:prstGeom>
          <a:noFill/>
          <a:ln/>
        </p:spPr>
        <p:txBody>
          <a:bodyPr wrap="square" lIns="0" tIns="0" rIns="0" bIns="0" rtlCol="0" anchor="ctr"/>
          <a:lstStyle/>
          <a:p>
            <a:pPr indent="0" marL="0">
              <a:buNone/>
            </a:pPr>
            <a:r>
              <a:rPr lang="en-US" sz="900" dirty="0">
                <a:solidFill>
                  <a:srgbClr val="666666"/>
                </a:solidFill>
                <a:latin typeface="Aptos" pitchFamily="34" charset="0"/>
                <a:ea typeface="Aptos" pitchFamily="34" charset="-122"/>
                <a:cs typeface="Aptos" pitchFamily="34" charset="-120"/>
              </a:rPr>
              <a:t>CONCLUSION</a:t>
            </a:r>
            <a:endParaRPr lang="en-US" sz="900" dirty="0"/>
          </a:p>
        </p:txBody>
      </p:sp>
      <p:sp>
        <p:nvSpPr>
          <p:cNvPr id="3" name="Text 1"/>
          <p:cNvSpPr/>
          <p:nvPr/>
        </p:nvSpPr>
        <p:spPr>
          <a:xfrm>
            <a:off x="9875520" y="182880"/>
            <a:ext cx="1828800" cy="182880"/>
          </a:xfrm>
          <a:prstGeom prst="rect">
            <a:avLst/>
          </a:prstGeom>
          <a:noFill/>
          <a:ln/>
        </p:spPr>
        <p:txBody>
          <a:bodyPr wrap="square" lIns="0" tIns="0" rIns="0" bIns="0" rtlCol="0" anchor="ctr"/>
          <a:lstStyle/>
          <a:p>
            <a:pPr algn="r" indent="0" marL="0">
              <a:buNone/>
            </a:pPr>
            <a:r>
              <a:rPr lang="en-US" sz="900" dirty="0">
                <a:solidFill>
                  <a:srgbClr val="666666"/>
                </a:solidFill>
                <a:latin typeface="Aptos" pitchFamily="34" charset="0"/>
                <a:ea typeface="Aptos" pitchFamily="34" charset="-122"/>
                <a:cs typeface="Aptos" pitchFamily="34" charset="-120"/>
              </a:rPr>
              <a:t>10 / 10</a:t>
            </a:r>
            <a:endParaRPr lang="en-US" sz="900" dirty="0"/>
          </a:p>
        </p:txBody>
      </p:sp>
      <p:sp>
        <p:nvSpPr>
          <p:cNvPr id="4" name="Shape 2"/>
          <p:cNvSpPr/>
          <p:nvPr/>
        </p:nvSpPr>
        <p:spPr>
          <a:xfrm>
            <a:off x="0" y="0"/>
            <a:ext cx="4297680" cy="6858000"/>
          </a:xfrm>
          <a:prstGeom prst="rect">
            <a:avLst/>
          </a:prstGeom>
          <a:solidFill>
            <a:srgbClr val="002FA7"/>
          </a:solidFill>
          <a:ln w="12700">
            <a:solidFill>
              <a:srgbClr val="002FA7"/>
            </a:solidFill>
            <a:prstDash val="solid"/>
          </a:ln>
        </p:spPr>
      </p:sp>
      <p:sp>
        <p:nvSpPr>
          <p:cNvPr id="5" name="Text 3"/>
          <p:cNvSpPr/>
          <p:nvPr/>
        </p:nvSpPr>
        <p:spPr>
          <a:xfrm>
            <a:off x="502920" y="1280160"/>
            <a:ext cx="3291840" cy="1143000"/>
          </a:xfrm>
          <a:prstGeom prst="rect">
            <a:avLst/>
          </a:prstGeom>
          <a:noFill/>
          <a:ln/>
        </p:spPr>
        <p:txBody>
          <a:bodyPr wrap="square" lIns="0" tIns="0" rIns="0" bIns="0" rtlCol="0" anchor="ctr"/>
          <a:lstStyle/>
          <a:p>
            <a:pPr indent="0" marL="0">
              <a:buNone/>
            </a:pPr>
            <a:r>
              <a:rPr lang="en-US" sz="2400" dirty="0">
                <a:solidFill>
                  <a:srgbClr val="FFFFFF"/>
                </a:solidFill>
                <a:latin typeface="Microsoft YaHei" pitchFamily="34" charset="0"/>
                <a:ea typeface="Microsoft YaHei" pitchFamily="34" charset="-122"/>
                <a:cs typeface="Microsoft YaHei" pitchFamily="34" charset="-120"/>
              </a:rPr>
              <a:t>让电力图像生成</a:t>
            </a:r>
            <a:endParaRPr lang="en-US" sz="2400" dirty="0"/>
          </a:p>
          <a:p>
            <a:pPr indent="0" marL="0">
              <a:buNone/>
            </a:pPr>
            <a:r>
              <a:rPr lang="en-US" sz="2400" dirty="0">
                <a:solidFill>
                  <a:srgbClr val="FFFFFF"/>
                </a:solidFill>
                <a:latin typeface="Microsoft YaHei" pitchFamily="34" charset="0"/>
                <a:ea typeface="Microsoft YaHei" pitchFamily="34" charset="-122"/>
                <a:cs typeface="Microsoft YaHei" pitchFamily="34" charset="-120"/>
              </a:rPr>
              <a:t>从可用走向可验证</a:t>
            </a:r>
            <a:endParaRPr lang="en-US" sz="2400" dirty="0"/>
          </a:p>
        </p:txBody>
      </p:sp>
      <p:sp>
        <p:nvSpPr>
          <p:cNvPr id="6" name="Text 4"/>
          <p:cNvSpPr/>
          <p:nvPr/>
        </p:nvSpPr>
        <p:spPr>
          <a:xfrm>
            <a:off x="502920" y="2743200"/>
            <a:ext cx="3154680" cy="822960"/>
          </a:xfrm>
          <a:prstGeom prst="rect">
            <a:avLst/>
          </a:prstGeom>
          <a:noFill/>
          <a:ln/>
        </p:spPr>
        <p:txBody>
          <a:bodyPr wrap="square" lIns="0" tIns="0" rIns="0" bIns="0" rtlCol="0" anchor="ctr"/>
          <a:lstStyle/>
          <a:p>
            <a:pPr indent="0" marL="0">
              <a:buNone/>
            </a:pPr>
            <a:r>
              <a:rPr lang="en-US" sz="1100" dirty="0">
                <a:solidFill>
                  <a:srgbClr val="FFFFFF"/>
                </a:solidFill>
                <a:latin typeface="Microsoft YaHei" pitchFamily="34" charset="0"/>
                <a:ea typeface="Microsoft YaHei" pitchFamily="34" charset="-122"/>
                <a:cs typeface="Microsoft YaHei" pitchFamily="34" charset="-120"/>
              </a:rPr>
              <a:t>本文以生成模型、评分模型和平台工程三部分协同，完成了面向电力场景的 AIGC 应用探索。</a:t>
            </a:r>
            <a:endParaRPr lang="en-US" sz="1100" dirty="0"/>
          </a:p>
        </p:txBody>
      </p:sp>
      <p:sp>
        <p:nvSpPr>
          <p:cNvPr id="7" name="Shape 5"/>
          <p:cNvSpPr/>
          <p:nvPr/>
        </p:nvSpPr>
        <p:spPr>
          <a:xfrm>
            <a:off x="4800600" y="1234440"/>
            <a:ext cx="6217920" cy="1143000"/>
          </a:xfrm>
          <a:prstGeom prst="rect">
            <a:avLst/>
          </a:prstGeom>
          <a:solidFill>
            <a:srgbClr val="F2F2EE"/>
          </a:solidFill>
          <a:ln w="12700">
            <a:solidFill>
              <a:srgbClr val="D8D8D2"/>
            </a:solidFill>
            <a:prstDash val="solid"/>
          </a:ln>
        </p:spPr>
      </p:sp>
      <p:sp>
        <p:nvSpPr>
          <p:cNvPr id="8" name="Text 6"/>
          <p:cNvSpPr/>
          <p:nvPr/>
        </p:nvSpPr>
        <p:spPr>
          <a:xfrm>
            <a:off x="4937760" y="1344168"/>
            <a:ext cx="5943600" cy="228600"/>
          </a:xfrm>
          <a:prstGeom prst="rect">
            <a:avLst/>
          </a:prstGeom>
          <a:noFill/>
          <a:ln/>
        </p:spPr>
        <p:txBody>
          <a:bodyPr wrap="square" lIns="0" tIns="0" rIns="0" bIns="0" rtlCol="0" anchor="ctr"/>
          <a:lstStyle/>
          <a:p>
            <a:pPr indent="0" marL="0">
              <a:buNone/>
            </a:pPr>
            <a:r>
              <a:rPr lang="en-US" sz="1000" b="1" dirty="0">
                <a:solidFill>
                  <a:srgbClr val="444444"/>
                </a:solidFill>
                <a:latin typeface="Aptos" pitchFamily="34" charset="0"/>
                <a:ea typeface="Aptos" pitchFamily="34" charset="-122"/>
                <a:cs typeface="Aptos" pitchFamily="34" charset="-120"/>
              </a:rPr>
              <a:t>01 生成能力更贴近行业场景</a:t>
            </a:r>
            <a:endParaRPr lang="en-US" sz="1000" dirty="0"/>
          </a:p>
        </p:txBody>
      </p:sp>
      <p:sp>
        <p:nvSpPr>
          <p:cNvPr id="9" name="Text 7"/>
          <p:cNvSpPr/>
          <p:nvPr/>
        </p:nvSpPr>
        <p:spPr>
          <a:xfrm>
            <a:off x="4937760" y="1618488"/>
            <a:ext cx="5943600" cy="667512"/>
          </a:xfrm>
          <a:prstGeom prst="rect">
            <a:avLst/>
          </a:prstGeom>
          <a:noFill/>
          <a:ln/>
        </p:spPr>
        <p:txBody>
          <a:bodyPr wrap="square" lIns="0" tIns="0" rIns="0" bIns="0" rtlCol="0" anchor="t">
            <a:normAutofit/>
          </a:bodyPr>
          <a:lstStyle/>
          <a:p>
            <a:pPr indent="0" marL="0">
              <a:buNone/>
            </a:pPr>
            <a:r>
              <a:rPr lang="en-US" sz="1100" dirty="0">
                <a:solidFill>
                  <a:srgbClr val="505050"/>
                </a:solidFill>
                <a:latin typeface="Microsoft YaHei" pitchFamily="34" charset="0"/>
                <a:ea typeface="Microsoft YaHei" pitchFamily="34" charset="-122"/>
                <a:cs typeface="Microsoft YaHei" pitchFamily="34" charset="-120"/>
              </a:rPr>
              <a:t>通过提示词控制与 LoRA 微调，电力设备细节和专业构图得到更稳定呈现。</a:t>
            </a:r>
            <a:endParaRPr lang="en-US" sz="1100" dirty="0"/>
          </a:p>
        </p:txBody>
      </p:sp>
      <p:sp>
        <p:nvSpPr>
          <p:cNvPr id="10" name="Shape 8"/>
          <p:cNvSpPr/>
          <p:nvPr/>
        </p:nvSpPr>
        <p:spPr>
          <a:xfrm>
            <a:off x="4800600" y="2697480"/>
            <a:ext cx="6217920" cy="1143000"/>
          </a:xfrm>
          <a:prstGeom prst="rect">
            <a:avLst/>
          </a:prstGeom>
          <a:solidFill>
            <a:srgbClr val="F2F2EE"/>
          </a:solidFill>
          <a:ln w="12700">
            <a:solidFill>
              <a:srgbClr val="D8D8D2"/>
            </a:solidFill>
            <a:prstDash val="solid"/>
          </a:ln>
        </p:spPr>
      </p:sp>
      <p:sp>
        <p:nvSpPr>
          <p:cNvPr id="11" name="Text 9"/>
          <p:cNvSpPr/>
          <p:nvPr/>
        </p:nvSpPr>
        <p:spPr>
          <a:xfrm>
            <a:off x="4937760" y="2807208"/>
            <a:ext cx="5943600" cy="228600"/>
          </a:xfrm>
          <a:prstGeom prst="rect">
            <a:avLst/>
          </a:prstGeom>
          <a:noFill/>
          <a:ln/>
        </p:spPr>
        <p:txBody>
          <a:bodyPr wrap="square" lIns="0" tIns="0" rIns="0" bIns="0" rtlCol="0" anchor="ctr"/>
          <a:lstStyle/>
          <a:p>
            <a:pPr indent="0" marL="0">
              <a:buNone/>
            </a:pPr>
            <a:r>
              <a:rPr lang="en-US" sz="1000" b="1" dirty="0">
                <a:solidFill>
                  <a:srgbClr val="444444"/>
                </a:solidFill>
                <a:latin typeface="Aptos" pitchFamily="34" charset="0"/>
                <a:ea typeface="Aptos" pitchFamily="34" charset="-122"/>
                <a:cs typeface="Aptos" pitchFamily="34" charset="-120"/>
              </a:rPr>
              <a:t>02 多维评分让结果更可解释</a:t>
            </a:r>
            <a:endParaRPr lang="en-US" sz="1000" dirty="0"/>
          </a:p>
        </p:txBody>
      </p:sp>
      <p:sp>
        <p:nvSpPr>
          <p:cNvPr id="12" name="Text 10"/>
          <p:cNvSpPr/>
          <p:nvPr/>
        </p:nvSpPr>
        <p:spPr>
          <a:xfrm>
            <a:off x="4937760" y="3081528"/>
            <a:ext cx="5943600" cy="667512"/>
          </a:xfrm>
          <a:prstGeom prst="rect">
            <a:avLst/>
          </a:prstGeom>
          <a:noFill/>
          <a:ln/>
        </p:spPr>
        <p:txBody>
          <a:bodyPr wrap="square" lIns="0" tIns="0" rIns="0" bIns="0" rtlCol="0" anchor="t">
            <a:normAutofit/>
          </a:bodyPr>
          <a:lstStyle/>
          <a:p>
            <a:pPr indent="0" marL="0">
              <a:buNone/>
            </a:pPr>
            <a:r>
              <a:rPr lang="en-US" sz="1100" dirty="0">
                <a:solidFill>
                  <a:srgbClr val="505050"/>
                </a:solidFill>
                <a:latin typeface="Microsoft YaHei" pitchFamily="34" charset="0"/>
                <a:ea typeface="Microsoft YaHei" pitchFamily="34" charset="-122"/>
                <a:cs typeface="Microsoft YaHei" pitchFamily="34" charset="-120"/>
              </a:rPr>
              <a:t>不再只看“像不像”，而是把视觉、语义、物理与美学一起纳入评价框架。</a:t>
            </a:r>
            <a:endParaRPr lang="en-US" sz="1100" dirty="0"/>
          </a:p>
        </p:txBody>
      </p:sp>
      <p:sp>
        <p:nvSpPr>
          <p:cNvPr id="13" name="Shape 11"/>
          <p:cNvSpPr/>
          <p:nvPr/>
        </p:nvSpPr>
        <p:spPr>
          <a:xfrm>
            <a:off x="4800600" y="4160520"/>
            <a:ext cx="6217920" cy="1234440"/>
          </a:xfrm>
          <a:prstGeom prst="rect">
            <a:avLst/>
          </a:prstGeom>
          <a:solidFill>
            <a:srgbClr val="002FA7"/>
          </a:solidFill>
          <a:ln w="12700">
            <a:solidFill>
              <a:srgbClr val="002FA7"/>
            </a:solidFill>
            <a:prstDash val="solid"/>
          </a:ln>
        </p:spPr>
      </p:sp>
      <p:sp>
        <p:nvSpPr>
          <p:cNvPr id="14" name="Text 12"/>
          <p:cNvSpPr/>
          <p:nvPr/>
        </p:nvSpPr>
        <p:spPr>
          <a:xfrm>
            <a:off x="4937760" y="4270248"/>
            <a:ext cx="5943600" cy="228600"/>
          </a:xfrm>
          <a:prstGeom prst="rect">
            <a:avLst/>
          </a:prstGeom>
          <a:noFill/>
          <a:ln/>
        </p:spPr>
        <p:txBody>
          <a:bodyPr wrap="square" lIns="0" tIns="0" rIns="0" bIns="0" rtlCol="0" anchor="ctr"/>
          <a:lstStyle/>
          <a:p>
            <a:pPr indent="0" marL="0">
              <a:buNone/>
            </a:pPr>
            <a:r>
              <a:rPr lang="en-US" sz="1000" b="1" dirty="0">
                <a:solidFill>
                  <a:srgbClr val="FFFFFF"/>
                </a:solidFill>
                <a:latin typeface="Aptos" pitchFamily="34" charset="0"/>
                <a:ea typeface="Aptos" pitchFamily="34" charset="-122"/>
                <a:cs typeface="Aptos" pitchFamily="34" charset="-120"/>
              </a:rPr>
              <a:t>03 平台闭环支撑持续优化</a:t>
            </a:r>
            <a:endParaRPr lang="en-US" sz="1000" dirty="0"/>
          </a:p>
        </p:txBody>
      </p:sp>
      <p:sp>
        <p:nvSpPr>
          <p:cNvPr id="15" name="Text 13"/>
          <p:cNvSpPr/>
          <p:nvPr/>
        </p:nvSpPr>
        <p:spPr>
          <a:xfrm>
            <a:off x="4937760" y="4544568"/>
            <a:ext cx="5943600" cy="758952"/>
          </a:xfrm>
          <a:prstGeom prst="rect">
            <a:avLst/>
          </a:prstGeom>
          <a:noFill/>
          <a:ln/>
        </p:spPr>
        <p:txBody>
          <a:bodyPr wrap="square" lIns="0" tIns="0" rIns="0" bIns="0" rtlCol="0" anchor="t">
            <a:normAutofit/>
          </a:bodyPr>
          <a:lstStyle/>
          <a:p>
            <a:pPr indent="0" marL="0">
              <a:buNone/>
            </a:pPr>
            <a:r>
              <a:rPr lang="en-US" sz="1100" dirty="0">
                <a:solidFill>
                  <a:srgbClr val="FFFFFF"/>
                </a:solidFill>
                <a:latin typeface="Microsoft YaHei" pitchFamily="34" charset="0"/>
                <a:ea typeface="Microsoft YaHei" pitchFamily="34" charset="-122"/>
                <a:cs typeface="Microsoft YaHei" pitchFamily="34" charset="-120"/>
              </a:rPr>
              <a:t>后续可继续扩展更多场景数据、评分器与检测辅助任务，推动电力行业 AIGC 走向更可靠应用。</a:t>
            </a:r>
            <a:endParaRPr lang="en-US" sz="1100" dirty="0"/>
          </a:p>
        </p:txBody>
      </p:sp>
      <p:sp>
        <p:nvSpPr>
          <p:cNvPr id="16" name="Text 14"/>
          <p:cNvSpPr/>
          <p:nvPr/>
        </p:nvSpPr>
        <p:spPr>
          <a:xfrm>
            <a:off x="640080" y="6473952"/>
            <a:ext cx="10972800" cy="164592"/>
          </a:xfrm>
          <a:prstGeom prst="rect">
            <a:avLst/>
          </a:prstGeom>
          <a:noFill/>
          <a:ln/>
        </p:spPr>
        <p:txBody>
          <a:bodyPr wrap="square" lIns="0" tIns="0" rIns="0" bIns="0" rtlCol="0" anchor="ctr"/>
          <a:lstStyle/>
          <a:p>
            <a:pPr algn="r" indent="0" marL="0">
              <a:buNone/>
            </a:pPr>
            <a:r>
              <a:rPr lang="en-US" sz="800" dirty="0">
                <a:solidFill>
                  <a:srgbClr val="7A7A7A"/>
                </a:solidFill>
                <a:latin typeface="Aptos" pitchFamily="34" charset="0"/>
                <a:ea typeface="Aptos" pitchFamily="34" charset="-122"/>
                <a:cs typeface="Aptos" pitchFamily="34" charset="-120"/>
              </a:rPr>
              <a:t>感谢各位老师批评指正</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Microsoft YaHe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icrosoft YaHe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OpenAI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基于AI生成电力图像及多维度质量评价 - 可编辑版</dc:title>
  <dc:subject>基于AI生成电力图像及多维度质量评价 毕业答辩</dc:subject>
  <dc:creator>OpenAI Codex</dc:creator>
  <cp:lastModifiedBy>OpenAI Codex</cp:lastModifiedBy>
  <cp:revision>1</cp:revision>
  <dcterms:created xsi:type="dcterms:W3CDTF">2026-05-15T10:55:44Z</dcterms:created>
  <dcterms:modified xsi:type="dcterms:W3CDTF">2026-05-15T10:55:44Z</dcterms:modified>
</cp:coreProperties>
</file>